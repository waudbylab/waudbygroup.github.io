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73" r:id="rId2"/>
    <p:sldId id="256" r:id="rId3"/>
    <p:sldId id="257" r:id="rId4"/>
    <p:sldId id="269" r:id="rId5"/>
    <p:sldId id="274" r:id="rId6"/>
    <p:sldId id="259" r:id="rId7"/>
    <p:sldId id="260" r:id="rId8"/>
    <p:sldId id="262"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90" autoAdjust="0"/>
    <p:restoredTop sz="94660"/>
  </p:normalViewPr>
  <p:slideViewPr>
    <p:cSldViewPr snapToGrid="0">
      <p:cViewPr varScale="1">
        <p:scale>
          <a:sx n="159" d="100"/>
          <a:sy n="159" d="100"/>
        </p:scale>
        <p:origin x="2856"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03E-4192-41C5-BCCB-EB73148CD8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FD86487-DB26-4B55-B743-75595831D8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7022334-8B9B-44F8-A4ED-2E7D7A4211A9}"/>
              </a:ext>
            </a:extLst>
          </p:cNvPr>
          <p:cNvSpPr>
            <a:spLocks noGrp="1"/>
          </p:cNvSpPr>
          <p:nvPr>
            <p:ph type="dt" sz="half" idx="10"/>
          </p:nvPr>
        </p:nvSpPr>
        <p:spPr/>
        <p:txBody>
          <a:bodyPr/>
          <a:lstStyle/>
          <a:p>
            <a:fld id="{B320DE66-3C04-4EA4-9A3E-BDA1C256ECA7}" type="datetimeFigureOut">
              <a:rPr lang="en-GB" smtClean="0"/>
              <a:t>05/02/2026</a:t>
            </a:fld>
            <a:endParaRPr lang="en-GB"/>
          </a:p>
        </p:txBody>
      </p:sp>
      <p:sp>
        <p:nvSpPr>
          <p:cNvPr id="5" name="Footer Placeholder 4">
            <a:extLst>
              <a:ext uri="{FF2B5EF4-FFF2-40B4-BE49-F238E27FC236}">
                <a16:creationId xmlns:a16="http://schemas.microsoft.com/office/drawing/2014/main" id="{E6CD38D0-51D4-4AAC-AF97-1399691DF6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B327F2-13F4-4EF1-B239-673B29E2CBF8}"/>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3951207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A790E-A524-439B-8D78-C175B21D29C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33C80FB-0B66-462F-BE67-AC6B1084B2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5E1BF7-EB37-47DF-877C-E6B67680012C}"/>
              </a:ext>
            </a:extLst>
          </p:cNvPr>
          <p:cNvSpPr>
            <a:spLocks noGrp="1"/>
          </p:cNvSpPr>
          <p:nvPr>
            <p:ph type="dt" sz="half" idx="10"/>
          </p:nvPr>
        </p:nvSpPr>
        <p:spPr/>
        <p:txBody>
          <a:bodyPr/>
          <a:lstStyle/>
          <a:p>
            <a:fld id="{B320DE66-3C04-4EA4-9A3E-BDA1C256ECA7}" type="datetimeFigureOut">
              <a:rPr lang="en-GB" smtClean="0"/>
              <a:t>05/02/2026</a:t>
            </a:fld>
            <a:endParaRPr lang="en-GB"/>
          </a:p>
        </p:txBody>
      </p:sp>
      <p:sp>
        <p:nvSpPr>
          <p:cNvPr id="5" name="Footer Placeholder 4">
            <a:extLst>
              <a:ext uri="{FF2B5EF4-FFF2-40B4-BE49-F238E27FC236}">
                <a16:creationId xmlns:a16="http://schemas.microsoft.com/office/drawing/2014/main" id="{9F445A9C-693C-4023-8C66-1346544F35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216CC8-FAD3-4F7D-AE2A-D3F9918BEEC0}"/>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4287245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BA982-3523-491C-B834-0ED9C13D55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CBC55B0-7E23-4DB5-AB7A-3B9B9C80D3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AD90C4-8487-45E6-B3A4-166279D868FE}"/>
              </a:ext>
            </a:extLst>
          </p:cNvPr>
          <p:cNvSpPr>
            <a:spLocks noGrp="1"/>
          </p:cNvSpPr>
          <p:nvPr>
            <p:ph type="dt" sz="half" idx="10"/>
          </p:nvPr>
        </p:nvSpPr>
        <p:spPr/>
        <p:txBody>
          <a:bodyPr/>
          <a:lstStyle/>
          <a:p>
            <a:fld id="{B320DE66-3C04-4EA4-9A3E-BDA1C256ECA7}" type="datetimeFigureOut">
              <a:rPr lang="en-GB" smtClean="0"/>
              <a:t>05/02/2026</a:t>
            </a:fld>
            <a:endParaRPr lang="en-GB"/>
          </a:p>
        </p:txBody>
      </p:sp>
      <p:sp>
        <p:nvSpPr>
          <p:cNvPr id="5" name="Footer Placeholder 4">
            <a:extLst>
              <a:ext uri="{FF2B5EF4-FFF2-40B4-BE49-F238E27FC236}">
                <a16:creationId xmlns:a16="http://schemas.microsoft.com/office/drawing/2014/main" id="{B3F00F98-99CE-41F1-A078-5FAE3E45CA3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2D091A8-4E25-4109-A869-24B73345E02D}"/>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941572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AD2A0-9835-419A-811E-E3A4125735C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35A1C49-A1A6-4EB7-8FF6-438C4AF0FD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DC47850-F56F-49F7-AB52-4A9D770388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C159CE5-211E-488B-A49E-CF31370937FB}"/>
              </a:ext>
            </a:extLst>
          </p:cNvPr>
          <p:cNvSpPr>
            <a:spLocks noGrp="1"/>
          </p:cNvSpPr>
          <p:nvPr>
            <p:ph type="dt" sz="half" idx="10"/>
          </p:nvPr>
        </p:nvSpPr>
        <p:spPr/>
        <p:txBody>
          <a:bodyPr/>
          <a:lstStyle/>
          <a:p>
            <a:fld id="{B320DE66-3C04-4EA4-9A3E-BDA1C256ECA7}" type="datetimeFigureOut">
              <a:rPr lang="en-GB" smtClean="0"/>
              <a:t>05/02/2026</a:t>
            </a:fld>
            <a:endParaRPr lang="en-GB"/>
          </a:p>
        </p:txBody>
      </p:sp>
      <p:sp>
        <p:nvSpPr>
          <p:cNvPr id="6" name="Footer Placeholder 5">
            <a:extLst>
              <a:ext uri="{FF2B5EF4-FFF2-40B4-BE49-F238E27FC236}">
                <a16:creationId xmlns:a16="http://schemas.microsoft.com/office/drawing/2014/main" id="{6B19A6B7-CCFB-4CFF-A5A5-8306FC57CA8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80E442E-29AE-412B-A1D4-F63933500F11}"/>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922980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566B9-873E-4AA7-AD61-5CE35DCCACF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6A74342-BA83-43BD-A8BD-3819A59EB4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2C7D37-46B5-4DDB-869D-4A003632D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3ED3D6A-8DAE-414C-A5C7-18B69BC951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D009C2-A62F-4874-A757-82BF665B73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2A608F3-44B2-41C9-986D-33E6150A6172}"/>
              </a:ext>
            </a:extLst>
          </p:cNvPr>
          <p:cNvSpPr>
            <a:spLocks noGrp="1"/>
          </p:cNvSpPr>
          <p:nvPr>
            <p:ph type="dt" sz="half" idx="10"/>
          </p:nvPr>
        </p:nvSpPr>
        <p:spPr/>
        <p:txBody>
          <a:bodyPr/>
          <a:lstStyle/>
          <a:p>
            <a:fld id="{B320DE66-3C04-4EA4-9A3E-BDA1C256ECA7}" type="datetimeFigureOut">
              <a:rPr lang="en-GB" smtClean="0"/>
              <a:t>05/02/2026</a:t>
            </a:fld>
            <a:endParaRPr lang="en-GB"/>
          </a:p>
        </p:txBody>
      </p:sp>
      <p:sp>
        <p:nvSpPr>
          <p:cNvPr id="8" name="Footer Placeholder 7">
            <a:extLst>
              <a:ext uri="{FF2B5EF4-FFF2-40B4-BE49-F238E27FC236}">
                <a16:creationId xmlns:a16="http://schemas.microsoft.com/office/drawing/2014/main" id="{2FE5AE7D-5CBD-40CC-AB64-A0AC342466C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2E4306B-0E87-41E8-BCE4-80F73206A666}"/>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1752959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A8353-D95C-4ED5-910F-F7FE20E6B24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CDDAF60-5BF5-40F2-BD69-6A3BDF636AB8}"/>
              </a:ext>
            </a:extLst>
          </p:cNvPr>
          <p:cNvSpPr>
            <a:spLocks noGrp="1"/>
          </p:cNvSpPr>
          <p:nvPr>
            <p:ph type="dt" sz="half" idx="10"/>
          </p:nvPr>
        </p:nvSpPr>
        <p:spPr/>
        <p:txBody>
          <a:bodyPr/>
          <a:lstStyle/>
          <a:p>
            <a:fld id="{B320DE66-3C04-4EA4-9A3E-BDA1C256ECA7}" type="datetimeFigureOut">
              <a:rPr lang="en-GB" smtClean="0"/>
              <a:t>05/02/2026</a:t>
            </a:fld>
            <a:endParaRPr lang="en-GB"/>
          </a:p>
        </p:txBody>
      </p:sp>
      <p:sp>
        <p:nvSpPr>
          <p:cNvPr id="4" name="Footer Placeholder 3">
            <a:extLst>
              <a:ext uri="{FF2B5EF4-FFF2-40B4-BE49-F238E27FC236}">
                <a16:creationId xmlns:a16="http://schemas.microsoft.com/office/drawing/2014/main" id="{029C169E-D2C0-4F06-AAF0-4F7C6674816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473EBAB-3CCA-4D78-943E-DDB3DEEEA843}"/>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2443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BD0F63-2EC4-4D9B-80AB-A306651CCF6B}"/>
              </a:ext>
            </a:extLst>
          </p:cNvPr>
          <p:cNvSpPr>
            <a:spLocks noGrp="1"/>
          </p:cNvSpPr>
          <p:nvPr>
            <p:ph type="dt" sz="half" idx="10"/>
          </p:nvPr>
        </p:nvSpPr>
        <p:spPr/>
        <p:txBody>
          <a:bodyPr/>
          <a:lstStyle/>
          <a:p>
            <a:fld id="{B320DE66-3C04-4EA4-9A3E-BDA1C256ECA7}" type="datetimeFigureOut">
              <a:rPr lang="en-GB" smtClean="0"/>
              <a:t>05/02/2026</a:t>
            </a:fld>
            <a:endParaRPr lang="en-GB"/>
          </a:p>
        </p:txBody>
      </p:sp>
      <p:sp>
        <p:nvSpPr>
          <p:cNvPr id="3" name="Footer Placeholder 2">
            <a:extLst>
              <a:ext uri="{FF2B5EF4-FFF2-40B4-BE49-F238E27FC236}">
                <a16:creationId xmlns:a16="http://schemas.microsoft.com/office/drawing/2014/main" id="{587E49EC-B087-4166-90B8-85D2F4E140C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8F81338-81FF-4C00-8BEE-AEE0264BFB42}"/>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1353302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BB27-5C27-41C6-9575-F4F7775DD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35CAC22-3449-48FC-A9AC-B6B1D2566B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C2CC287-4FC5-4448-8F64-6397FE0DC9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7BE438-E3BB-4A73-B6AA-29ADE0AE63DC}"/>
              </a:ext>
            </a:extLst>
          </p:cNvPr>
          <p:cNvSpPr>
            <a:spLocks noGrp="1"/>
          </p:cNvSpPr>
          <p:nvPr>
            <p:ph type="dt" sz="half" idx="10"/>
          </p:nvPr>
        </p:nvSpPr>
        <p:spPr/>
        <p:txBody>
          <a:bodyPr/>
          <a:lstStyle/>
          <a:p>
            <a:fld id="{B320DE66-3C04-4EA4-9A3E-BDA1C256ECA7}" type="datetimeFigureOut">
              <a:rPr lang="en-GB" smtClean="0"/>
              <a:t>05/02/2026</a:t>
            </a:fld>
            <a:endParaRPr lang="en-GB"/>
          </a:p>
        </p:txBody>
      </p:sp>
      <p:sp>
        <p:nvSpPr>
          <p:cNvPr id="6" name="Footer Placeholder 5">
            <a:extLst>
              <a:ext uri="{FF2B5EF4-FFF2-40B4-BE49-F238E27FC236}">
                <a16:creationId xmlns:a16="http://schemas.microsoft.com/office/drawing/2014/main" id="{1ACF5447-32C8-41DD-94E7-E2880372CA8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85A604C-B747-4F8E-BD31-8D14620AA6F8}"/>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2168284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CFA73-B3F9-4297-AAF7-806F5784C4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5BA0C18-1601-42D8-8450-D09D6E4D56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6892ED0-24B4-4DFC-A5D0-1BF141E3B6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1A9026-93F0-42C6-9969-50BD56CE923A}"/>
              </a:ext>
            </a:extLst>
          </p:cNvPr>
          <p:cNvSpPr>
            <a:spLocks noGrp="1"/>
          </p:cNvSpPr>
          <p:nvPr>
            <p:ph type="dt" sz="half" idx="10"/>
          </p:nvPr>
        </p:nvSpPr>
        <p:spPr/>
        <p:txBody>
          <a:bodyPr/>
          <a:lstStyle/>
          <a:p>
            <a:fld id="{B320DE66-3C04-4EA4-9A3E-BDA1C256ECA7}" type="datetimeFigureOut">
              <a:rPr lang="en-GB" smtClean="0"/>
              <a:t>05/02/2026</a:t>
            </a:fld>
            <a:endParaRPr lang="en-GB"/>
          </a:p>
        </p:txBody>
      </p:sp>
      <p:sp>
        <p:nvSpPr>
          <p:cNvPr id="6" name="Footer Placeholder 5">
            <a:extLst>
              <a:ext uri="{FF2B5EF4-FFF2-40B4-BE49-F238E27FC236}">
                <a16:creationId xmlns:a16="http://schemas.microsoft.com/office/drawing/2014/main" id="{621CF678-2E3C-4172-B2C2-7050B39CC00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B2B8680-E961-4268-B435-C3C80818A05A}"/>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4026889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CDA01-7742-44B4-BDF3-1BCB5770533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F69442C-8C90-426F-9187-F96E1B3E18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1CED11E-B4FD-4A68-B20A-A1159A9D2B79}"/>
              </a:ext>
            </a:extLst>
          </p:cNvPr>
          <p:cNvSpPr>
            <a:spLocks noGrp="1"/>
          </p:cNvSpPr>
          <p:nvPr>
            <p:ph type="dt" sz="half" idx="10"/>
          </p:nvPr>
        </p:nvSpPr>
        <p:spPr/>
        <p:txBody>
          <a:bodyPr/>
          <a:lstStyle/>
          <a:p>
            <a:fld id="{B320DE66-3C04-4EA4-9A3E-BDA1C256ECA7}" type="datetimeFigureOut">
              <a:rPr lang="en-GB" smtClean="0"/>
              <a:t>05/02/2026</a:t>
            </a:fld>
            <a:endParaRPr lang="en-GB"/>
          </a:p>
        </p:txBody>
      </p:sp>
      <p:sp>
        <p:nvSpPr>
          <p:cNvPr id="5" name="Footer Placeholder 4">
            <a:extLst>
              <a:ext uri="{FF2B5EF4-FFF2-40B4-BE49-F238E27FC236}">
                <a16:creationId xmlns:a16="http://schemas.microsoft.com/office/drawing/2014/main" id="{70BB7461-9659-4597-B1D2-A7172675CA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0095D0-DBBF-464A-B4CE-8DBE578EC485}"/>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2543339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EA3260-F052-4D48-B37F-A7E4F33BB7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097433B-9B78-48E3-B359-393465B346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2AFDE67-BBED-49D7-8157-7442B649C758}"/>
              </a:ext>
            </a:extLst>
          </p:cNvPr>
          <p:cNvSpPr>
            <a:spLocks noGrp="1"/>
          </p:cNvSpPr>
          <p:nvPr>
            <p:ph type="dt" sz="half" idx="10"/>
          </p:nvPr>
        </p:nvSpPr>
        <p:spPr/>
        <p:txBody>
          <a:bodyPr/>
          <a:lstStyle/>
          <a:p>
            <a:fld id="{B320DE66-3C04-4EA4-9A3E-BDA1C256ECA7}" type="datetimeFigureOut">
              <a:rPr lang="en-GB" smtClean="0"/>
              <a:t>05/02/2026</a:t>
            </a:fld>
            <a:endParaRPr lang="en-GB"/>
          </a:p>
        </p:txBody>
      </p:sp>
      <p:sp>
        <p:nvSpPr>
          <p:cNvPr id="5" name="Footer Placeholder 4">
            <a:extLst>
              <a:ext uri="{FF2B5EF4-FFF2-40B4-BE49-F238E27FC236}">
                <a16:creationId xmlns:a16="http://schemas.microsoft.com/office/drawing/2014/main" id="{7F02BAAA-C7FD-4A17-817E-C4847DF647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5AF825-9B67-4A66-BC04-3187EA8F3FA8}"/>
              </a:ext>
            </a:extLst>
          </p:cNvPr>
          <p:cNvSpPr>
            <a:spLocks noGrp="1"/>
          </p:cNvSpPr>
          <p:nvPr>
            <p:ph type="sldNum" sz="quarter" idx="12"/>
          </p:nvPr>
        </p:nvSpPr>
        <p:spPr/>
        <p:txBody>
          <a:bodyPr/>
          <a:lstStyle/>
          <a:p>
            <a:fld id="{BDE9ABDD-E8CF-4733-8366-D16FE81E16A2}" type="slidenum">
              <a:rPr lang="en-GB" smtClean="0"/>
              <a:t>‹#›</a:t>
            </a:fld>
            <a:endParaRPr lang="en-GB"/>
          </a:p>
        </p:txBody>
      </p:sp>
    </p:spTree>
    <p:extLst>
      <p:ext uri="{BB962C8B-B14F-4D97-AF65-F5344CB8AC3E}">
        <p14:creationId xmlns:p14="http://schemas.microsoft.com/office/powerpoint/2010/main" val="4287647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6CFAFD-5DEF-4DEB-9D72-DB105FF0DC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446B77A-2C48-4BE7-9506-5D5B4F76DB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98A17F-DFB3-449F-9009-6F8E6FB214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20DE66-3C04-4EA4-9A3E-BDA1C256ECA7}" type="datetimeFigureOut">
              <a:rPr lang="en-GB" smtClean="0"/>
              <a:t>05/02/2026</a:t>
            </a:fld>
            <a:endParaRPr lang="en-GB"/>
          </a:p>
        </p:txBody>
      </p:sp>
      <p:sp>
        <p:nvSpPr>
          <p:cNvPr id="5" name="Footer Placeholder 4">
            <a:extLst>
              <a:ext uri="{FF2B5EF4-FFF2-40B4-BE49-F238E27FC236}">
                <a16:creationId xmlns:a16="http://schemas.microsoft.com/office/drawing/2014/main" id="{CB6D637D-6467-4D60-8D51-9C6C3FD223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843E09ED-6F97-49C3-BED8-04640E345F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E9ABDD-E8CF-4733-8366-D16FE81E16A2}" type="slidenum">
              <a:rPr lang="en-GB" smtClean="0"/>
              <a:t>‹#›</a:t>
            </a:fld>
            <a:endParaRPr lang="en-GB"/>
          </a:p>
        </p:txBody>
      </p:sp>
    </p:spTree>
    <p:extLst>
      <p:ext uri="{BB962C8B-B14F-4D97-AF65-F5344CB8AC3E}">
        <p14:creationId xmlns:p14="http://schemas.microsoft.com/office/powerpoint/2010/main" val="768593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CE2F5-C06F-3250-8BDD-021E3220A8D7}"/>
              </a:ext>
            </a:extLst>
          </p:cNvPr>
          <p:cNvSpPr>
            <a:spLocks noGrp="1"/>
          </p:cNvSpPr>
          <p:nvPr>
            <p:ph type="ctrTitle"/>
          </p:nvPr>
        </p:nvSpPr>
        <p:spPr/>
        <p:txBody>
          <a:bodyPr/>
          <a:lstStyle/>
          <a:p>
            <a:r>
              <a:rPr lang="en-GB" dirty="0"/>
              <a:t>UV-vis and fluorescence spectroscopy</a:t>
            </a:r>
          </a:p>
        </p:txBody>
      </p:sp>
      <p:sp>
        <p:nvSpPr>
          <p:cNvPr id="3" name="Subtitle 2">
            <a:extLst>
              <a:ext uri="{FF2B5EF4-FFF2-40B4-BE49-F238E27FC236}">
                <a16:creationId xmlns:a16="http://schemas.microsoft.com/office/drawing/2014/main" id="{1DD655F7-DCB7-273A-785B-2440674A26E3}"/>
              </a:ext>
            </a:extLst>
          </p:cNvPr>
          <p:cNvSpPr>
            <a:spLocks noGrp="1"/>
          </p:cNvSpPr>
          <p:nvPr>
            <p:ph type="subTitle" idx="1"/>
          </p:nvPr>
        </p:nvSpPr>
        <p:spPr/>
        <p:txBody>
          <a:bodyPr/>
          <a:lstStyle/>
          <a:p>
            <a:r>
              <a:rPr lang="en-GB" dirty="0"/>
              <a:t>PHAY0002 – Tutorial problems</a:t>
            </a:r>
          </a:p>
          <a:p>
            <a:r>
              <a:rPr lang="en-GB" dirty="0"/>
              <a:t>Dr Chris Waudby (</a:t>
            </a:r>
            <a:r>
              <a:rPr lang="en-GB" dirty="0" err="1"/>
              <a:t>c.waudby@ucl.ac.uk</a:t>
            </a:r>
            <a:r>
              <a:rPr lang="en-GB" dirty="0"/>
              <a:t>)</a:t>
            </a:r>
          </a:p>
        </p:txBody>
      </p:sp>
    </p:spTree>
    <p:extLst>
      <p:ext uri="{BB962C8B-B14F-4D97-AF65-F5344CB8AC3E}">
        <p14:creationId xmlns:p14="http://schemas.microsoft.com/office/powerpoint/2010/main" val="1832209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BE5D262A-2B4B-4830-8718-94083369E0F3}"/>
              </a:ext>
            </a:extLst>
          </p:cNvPr>
          <p:cNvSpPr>
            <a:spLocks noChangeArrowheads="1"/>
          </p:cNvSpPr>
          <p:nvPr/>
        </p:nvSpPr>
        <p:spPr bwMode="auto">
          <a:xfrm>
            <a:off x="0" y="0"/>
            <a:ext cx="1196109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The BP gives the specific absorbance A(1%,1cm) for riboflavin (</a:t>
            </a:r>
            <a:r>
              <a:rPr kumimoji="0" lang="en-GB" altLang="en-US" sz="20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M</a:t>
            </a:r>
            <a:r>
              <a:rPr kumimoji="0" lang="en-GB" altLang="en-US" sz="2000" b="0" i="1" u="none" strike="noStrike" cap="none" normalizeH="0" baseline="-3000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r</a:t>
            </a:r>
            <a:r>
              <a:rPr kumimoji="0" lang="en-GB"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 376.4) as 328 at 444 nm.</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Calculate the value of the molar absorption coefficient for riboflavin at 444 nm.</a:t>
            </a:r>
          </a:p>
        </p:txBody>
      </p:sp>
      <p:sp>
        <p:nvSpPr>
          <p:cNvPr id="7" name="Rectangle 4">
            <a:extLst>
              <a:ext uri="{FF2B5EF4-FFF2-40B4-BE49-F238E27FC236}">
                <a16:creationId xmlns:a16="http://schemas.microsoft.com/office/drawing/2014/main" id="{E8BAAEBD-1B90-45D3-A889-C18857971305}"/>
              </a:ext>
            </a:extLst>
          </p:cNvPr>
          <p:cNvSpPr>
            <a:spLocks noChangeArrowheads="1"/>
          </p:cNvSpPr>
          <p:nvPr/>
        </p:nvSpPr>
        <p:spPr bwMode="auto">
          <a:xfrm>
            <a:off x="3314700" y="2622520"/>
            <a:ext cx="11079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endParaRPr kumimoji="0" lang="en-GB" altLang="en-US" sz="2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7401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D32344-CAC7-456D-9770-0A9C93558D2D}"/>
              </a:ext>
            </a:extLst>
          </p:cNvPr>
          <p:cNvSpPr txBox="1"/>
          <p:nvPr/>
        </p:nvSpPr>
        <p:spPr>
          <a:xfrm>
            <a:off x="132080" y="129748"/>
            <a:ext cx="11948160" cy="2431691"/>
          </a:xfrm>
          <a:prstGeom prst="rect">
            <a:avLst/>
          </a:prstGeom>
          <a:noFill/>
        </p:spPr>
        <p:txBody>
          <a:bodyPr wrap="square">
            <a:spAutoFit/>
          </a:bodyPr>
          <a:lstStyle/>
          <a:p>
            <a:pPr>
              <a:lnSpc>
                <a:spcPct val="115000"/>
              </a:lnSpc>
              <a:spcAft>
                <a:spcPts val="1000"/>
              </a:spcAft>
            </a:pPr>
            <a:r>
              <a:rPr lang="en-GB" dirty="0">
                <a:effectLst/>
                <a:latin typeface="Arial" panose="020B0604020202020204" pitchFamily="34" charset="0"/>
                <a:ea typeface="Times New Roman" panose="02020603050405020304" pitchFamily="18" charset="0"/>
                <a:cs typeface="Arial" panose="020B0604020202020204" pitchFamily="34" charset="0"/>
              </a:rPr>
              <a:t>Use the data below to calculate the aluminium content of the water sample. The determination is based on the fact that aluminium forms a complex with quinoline-8-ol which fluoresces in a chloroform medium.</a:t>
            </a:r>
          </a:p>
          <a:p>
            <a:pPr>
              <a:lnSpc>
                <a:spcPct val="115000"/>
              </a:lnSpc>
              <a:spcAft>
                <a:spcPts val="1000"/>
              </a:spcAft>
            </a:pPr>
            <a:r>
              <a:rPr lang="en-GB" dirty="0">
                <a:effectLst/>
                <a:latin typeface="Arial" panose="020B0604020202020204" pitchFamily="34" charset="0"/>
                <a:ea typeface="Times New Roman" panose="02020603050405020304" pitchFamily="18" charset="0"/>
                <a:cs typeface="Arial" panose="020B0604020202020204" pitchFamily="34" charset="0"/>
              </a:rPr>
              <a:t>500 mL of the water sample plus 10 mL of acetate buffer and 100 mL of purified water was extracted several times with a 0.5% m/v solution of quinoline-8-ol in chloroform. The total volume of the combined extracts was 50 </a:t>
            </a:r>
            <a:r>
              <a:rPr lang="en-GB" dirty="0" err="1">
                <a:effectLst/>
                <a:latin typeface="Arial" panose="020B0604020202020204" pitchFamily="34" charset="0"/>
                <a:ea typeface="Times New Roman" panose="02020603050405020304" pitchFamily="18" charset="0"/>
                <a:cs typeface="Arial" panose="020B0604020202020204" pitchFamily="34" charset="0"/>
              </a:rPr>
              <a:t>mL.</a:t>
            </a:r>
            <a:r>
              <a:rPr lang="en-GB" dirty="0">
                <a:effectLst/>
                <a:latin typeface="Arial" panose="020B0604020202020204" pitchFamily="34" charset="0"/>
                <a:ea typeface="Times New Roman" panose="02020603050405020304" pitchFamily="18" charset="0"/>
                <a:cs typeface="Arial" panose="020B0604020202020204" pitchFamily="34" charset="0"/>
              </a:rPr>
              <a:t> The chloroform extract gave a fluorescence intensity reading of 82. When the procedure was repeated using 4.0 mL of a 0.56 µg/mL aluminium standard solution in place of the water sample a reading of 67 was obtained. In the absence of any sample a fluorescence intensity reading of 23 was obtained.</a:t>
            </a:r>
          </a:p>
        </p:txBody>
      </p:sp>
    </p:spTree>
    <p:extLst>
      <p:ext uri="{BB962C8B-B14F-4D97-AF65-F5344CB8AC3E}">
        <p14:creationId xmlns:p14="http://schemas.microsoft.com/office/powerpoint/2010/main" val="4128566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4E4C4-FF9B-08E9-738D-A54B4EEC364E}"/>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240782E3-54CD-9344-C142-F1640FEAA84A}"/>
              </a:ext>
            </a:extLst>
          </p:cNvPr>
          <p:cNvSpPr>
            <a:spLocks noChangeArrowheads="1"/>
          </p:cNvSpPr>
          <p:nvPr/>
        </p:nvSpPr>
        <p:spPr bwMode="auto">
          <a:xfrm>
            <a:off x="115454" y="67975"/>
            <a:ext cx="1196109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 batch of co-codamol tablets is being analysed. Three tablets are crushed and dissolved in 0.1 M HCl and made up to 250 mL in a volumetric flask. A 1 mL portion is diluted to 250 mL and the absorbance measured in a 1 cm cell. If the absorbance at 248 nm is 0.8477 and at 275 nm is 0.2267, calculate the content of paracetamol and codeine in the original tablet. The label claim is 500 mg paracetamol and 30 mg codeine phosphate per tablet. Verify if the amount of paracetamol and codeine are within 5% of this.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The A(1%, 1cm) of paracetamol is 360.7 at 248 nm and 87.0 at 275 nm. The A(1%, 1cm) of codeine is 22.6 at 248 nm and 115.3 at 275 nm.</a:t>
            </a:r>
          </a:p>
        </p:txBody>
      </p:sp>
      <p:sp>
        <p:nvSpPr>
          <p:cNvPr id="7" name="Rectangle 4">
            <a:extLst>
              <a:ext uri="{FF2B5EF4-FFF2-40B4-BE49-F238E27FC236}">
                <a16:creationId xmlns:a16="http://schemas.microsoft.com/office/drawing/2014/main" id="{17AF4E2E-A3ED-ED30-55FE-0534E99918E6}"/>
              </a:ext>
            </a:extLst>
          </p:cNvPr>
          <p:cNvSpPr>
            <a:spLocks noChangeArrowheads="1"/>
          </p:cNvSpPr>
          <p:nvPr/>
        </p:nvSpPr>
        <p:spPr bwMode="auto">
          <a:xfrm>
            <a:off x="3314700" y="2622520"/>
            <a:ext cx="11079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endParaRPr kumimoji="0" lang="en-GB" altLang="en-US" sz="2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0753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0E29B-848E-30D4-859B-50F433D97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F20AD-323E-41A6-3B81-22AE015612BD}"/>
              </a:ext>
            </a:extLst>
          </p:cNvPr>
          <p:cNvSpPr>
            <a:spLocks noGrp="1"/>
          </p:cNvSpPr>
          <p:nvPr>
            <p:ph type="ctrTitle"/>
          </p:nvPr>
        </p:nvSpPr>
        <p:spPr/>
        <p:txBody>
          <a:bodyPr/>
          <a:lstStyle/>
          <a:p>
            <a:r>
              <a:rPr lang="en-GB" dirty="0"/>
              <a:t>Separation and chromatography</a:t>
            </a:r>
          </a:p>
        </p:txBody>
      </p:sp>
      <p:sp>
        <p:nvSpPr>
          <p:cNvPr id="3" name="Subtitle 2">
            <a:extLst>
              <a:ext uri="{FF2B5EF4-FFF2-40B4-BE49-F238E27FC236}">
                <a16:creationId xmlns:a16="http://schemas.microsoft.com/office/drawing/2014/main" id="{C46764CF-9DC5-FACC-9DC8-1086A9631D90}"/>
              </a:ext>
            </a:extLst>
          </p:cNvPr>
          <p:cNvSpPr>
            <a:spLocks noGrp="1"/>
          </p:cNvSpPr>
          <p:nvPr>
            <p:ph type="subTitle" idx="1"/>
          </p:nvPr>
        </p:nvSpPr>
        <p:spPr/>
        <p:txBody>
          <a:bodyPr/>
          <a:lstStyle/>
          <a:p>
            <a:r>
              <a:rPr lang="en-GB" dirty="0"/>
              <a:t>PHAY0002 – Tutorial problems</a:t>
            </a:r>
          </a:p>
          <a:p>
            <a:r>
              <a:rPr lang="en-GB" dirty="0"/>
              <a:t>Dr Chris Serpell (chris.serpell@ucl.ac.uk)</a:t>
            </a:r>
          </a:p>
        </p:txBody>
      </p:sp>
    </p:spTree>
    <p:extLst>
      <p:ext uri="{BB962C8B-B14F-4D97-AF65-F5344CB8AC3E}">
        <p14:creationId xmlns:p14="http://schemas.microsoft.com/office/powerpoint/2010/main" val="1790346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80B30412-099F-49AE-BD3A-220B462E3942}"/>
              </a:ext>
            </a:extLst>
          </p:cNvPr>
          <p:cNvSpPr>
            <a:spLocks noChangeArrowheads="1"/>
          </p:cNvSpPr>
          <p:nvPr/>
        </p:nvSpPr>
        <p:spPr bwMode="auto">
          <a:xfrm>
            <a:off x="376238" y="156235"/>
            <a:ext cx="1143952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You have finished a reaction and worked it up. You performed normal phase column chromatography to separate the components. Below is a normal phase TLC of your fractions:</a:t>
            </a:r>
            <a:endParaRPr kumimoji="0" lang="en-GB"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graphicFrame>
        <p:nvGraphicFramePr>
          <p:cNvPr id="11" name="Object 10">
            <a:extLst>
              <a:ext uri="{FF2B5EF4-FFF2-40B4-BE49-F238E27FC236}">
                <a16:creationId xmlns:a16="http://schemas.microsoft.com/office/drawing/2014/main" id="{86361AD8-CE80-4856-A9FF-420271852922}"/>
              </a:ext>
            </a:extLst>
          </p:cNvPr>
          <p:cNvGraphicFramePr>
            <a:graphicFrameLocks noChangeAspect="1"/>
          </p:cNvGraphicFramePr>
          <p:nvPr>
            <p:extLst>
              <p:ext uri="{D42A27DB-BD31-4B8C-83A1-F6EECF244321}">
                <p14:modId xmlns:p14="http://schemas.microsoft.com/office/powerpoint/2010/main" val="543500287"/>
              </p:ext>
            </p:extLst>
          </p:nvPr>
        </p:nvGraphicFramePr>
        <p:xfrm>
          <a:off x="376237" y="1171898"/>
          <a:ext cx="5174853" cy="2214240"/>
        </p:xfrm>
        <a:graphic>
          <a:graphicData uri="http://schemas.openxmlformats.org/presentationml/2006/ole">
            <mc:AlternateContent xmlns:mc="http://schemas.openxmlformats.org/markup-compatibility/2006">
              <mc:Choice xmlns:v="urn:schemas-microsoft-com:vml" Requires="v">
                <p:oleObj name="CS ChemDraw Drawing" r:id="rId2" imgW="4710262" imgH="2014278" progId="ChemDraw.Document.6.0">
                  <p:embed/>
                </p:oleObj>
              </mc:Choice>
              <mc:Fallback>
                <p:oleObj name="CS ChemDraw Drawing" r:id="rId2" imgW="4710262" imgH="2014278" progId="ChemDraw.Document.6.0">
                  <p:embed/>
                  <p:pic>
                    <p:nvPicPr>
                      <p:cNvPr id="11" name="Object 10">
                        <a:extLst>
                          <a:ext uri="{FF2B5EF4-FFF2-40B4-BE49-F238E27FC236}">
                            <a16:creationId xmlns:a16="http://schemas.microsoft.com/office/drawing/2014/main" id="{86361AD8-CE80-4856-A9FF-4202718529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237" y="1171898"/>
                        <a:ext cx="5174853" cy="2214240"/>
                      </a:xfrm>
                      <a:prstGeom prst="rect">
                        <a:avLst/>
                      </a:prstGeom>
                      <a:noFill/>
                    </p:spPr>
                  </p:pic>
                </p:oleObj>
              </mc:Fallback>
            </mc:AlternateContent>
          </a:graphicData>
        </a:graphic>
      </p:graphicFrame>
      <p:sp>
        <p:nvSpPr>
          <p:cNvPr id="12" name="Rectangle 9">
            <a:extLst>
              <a:ext uri="{FF2B5EF4-FFF2-40B4-BE49-F238E27FC236}">
                <a16:creationId xmlns:a16="http://schemas.microsoft.com/office/drawing/2014/main" id="{8B2FD459-726E-445E-9E79-742AC0DDD5F2}"/>
              </a:ext>
            </a:extLst>
          </p:cNvPr>
          <p:cNvSpPr>
            <a:spLocks noChangeArrowheads="1"/>
          </p:cNvSpPr>
          <p:nvPr/>
        </p:nvSpPr>
        <p:spPr bwMode="auto">
          <a:xfrm>
            <a:off x="312627" y="3932706"/>
            <a:ext cx="1086690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Explain what is meant by the “crude” spot?</a:t>
            </a:r>
            <a:endParaRPr kumimoji="0" lang="en-GB" altLang="en-US" sz="20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How many different components are in the reaction mixture?</a:t>
            </a:r>
            <a:r>
              <a:rPr lang="en-GB" altLang="en-US" sz="2000" dirty="0">
                <a:cs typeface="Arial" panose="020B0604020202020204" pitchFamily="34" charset="0"/>
              </a:rPr>
              <a:t> </a:t>
            </a: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3 which have been visualised</a:t>
            </a:r>
            <a:endParaRPr kumimoji="0" lang="en-GB" altLang="en-US" sz="20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Which fractions are pure?</a:t>
            </a:r>
            <a:r>
              <a:rPr lang="en-GB" altLang="en-US" sz="2000" dirty="0">
                <a:cs typeface="Arial" panose="020B0604020202020204" pitchFamily="34" charset="0"/>
              </a:rPr>
              <a:t> </a:t>
            </a: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2, 3, 5, 6, 8-13</a:t>
            </a:r>
            <a:endParaRPr kumimoji="0" lang="en-GB" altLang="en-US" sz="20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Which fractions are not pure?</a:t>
            </a:r>
            <a:r>
              <a:rPr lang="en-GB" altLang="en-US" sz="2000" dirty="0">
                <a:cs typeface="Arial" panose="020B0604020202020204" pitchFamily="34" charset="0"/>
              </a:rPr>
              <a:t> </a:t>
            </a: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7</a:t>
            </a:r>
            <a:endParaRPr kumimoji="0" lang="en-GB" altLang="en-US" sz="20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Which fractions do not contain any compound?</a:t>
            </a:r>
            <a:r>
              <a:rPr lang="en-GB" altLang="en-US" sz="2000" dirty="0">
                <a:cs typeface="Arial" panose="020B0604020202020204" pitchFamily="34" charset="0"/>
              </a:rPr>
              <a:t> </a:t>
            </a: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1, 4, 14</a:t>
            </a:r>
            <a:endParaRPr kumimoji="0" lang="en-GB" altLang="en-US" sz="20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Which fractions contain the most non-polar compound?</a:t>
            </a:r>
            <a:r>
              <a:rPr lang="en-GB" altLang="en-US" sz="2000" dirty="0">
                <a:cs typeface="Arial" panose="020B0604020202020204" pitchFamily="34" charset="0"/>
              </a:rPr>
              <a:t> </a:t>
            </a: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2, 3</a:t>
            </a:r>
            <a:endParaRPr kumimoji="0" lang="en-GB" altLang="en-US" sz="20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Which fractions contain the most polar compound?</a:t>
            </a:r>
            <a:r>
              <a:rPr lang="en-GB" altLang="en-US" sz="2000" dirty="0">
                <a:cs typeface="Arial" panose="020B0604020202020204" pitchFamily="34" charset="0"/>
              </a:rPr>
              <a:t> </a:t>
            </a: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7-13</a:t>
            </a:r>
            <a:endParaRPr kumimoji="0" lang="en-GB" altLang="en-US" sz="2000" b="0" i="0" u="none" strike="noStrike" cap="none" normalizeH="0" baseline="0" dirty="0">
              <a:ln>
                <a:noFill/>
              </a:ln>
              <a:solidFill>
                <a:schemeClr val="bg1"/>
              </a:solidFill>
              <a:effectLst/>
              <a:cs typeface="Arial" panose="020B0604020202020204" pitchFamily="34" charset="0"/>
            </a:endParaRPr>
          </a:p>
        </p:txBody>
      </p:sp>
    </p:spTree>
    <p:extLst>
      <p:ext uri="{BB962C8B-B14F-4D97-AF65-F5344CB8AC3E}">
        <p14:creationId xmlns:p14="http://schemas.microsoft.com/office/powerpoint/2010/main" val="3553493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2FA4BF-4C7C-41AD-BBC9-F0B484C8219B}"/>
              </a:ext>
            </a:extLst>
          </p:cNvPr>
          <p:cNvSpPr/>
          <p:nvPr/>
        </p:nvSpPr>
        <p:spPr>
          <a:xfrm>
            <a:off x="365760" y="696233"/>
            <a:ext cx="11402170" cy="872739"/>
          </a:xfrm>
          <a:prstGeom prst="rect">
            <a:avLst/>
          </a:prstGeom>
        </p:spPr>
        <p:txBody>
          <a:bodyPr wrap="square">
            <a:spAutoFit/>
          </a:bodyPr>
          <a:lstStyle/>
          <a:p>
            <a:pPr lvl="0">
              <a:lnSpc>
                <a:spcPct val="115000"/>
              </a:lnSpc>
              <a:spcAft>
                <a:spcPts val="800"/>
              </a:spcAft>
            </a:pPr>
            <a:r>
              <a:rPr lang="en-GB" sz="2000" dirty="0">
                <a:latin typeface="Arial" panose="020B0604020202020204" pitchFamily="34" charset="0"/>
                <a:ea typeface="Calibri" panose="020F0502020204030204" pitchFamily="34" charset="0"/>
                <a:cs typeface="Arial" panose="020B0604020202020204" pitchFamily="34" charset="0"/>
              </a:rPr>
              <a:t>Compare and contrast column chromatography and SPE.</a:t>
            </a:r>
          </a:p>
          <a:p>
            <a:pPr>
              <a:lnSpc>
                <a:spcPct val="115000"/>
              </a:lnSpc>
              <a:spcAft>
                <a:spcPts val="800"/>
              </a:spcAft>
            </a:pPr>
            <a:r>
              <a:rPr lang="en-GB" sz="2000" dirty="0">
                <a:latin typeface="Arial" panose="020B0604020202020204" pitchFamily="34" charset="0"/>
                <a:ea typeface="Calibri" panose="020F0502020204030204" pitchFamily="34" charset="0"/>
                <a:cs typeface="Arial" panose="020B0604020202020204" pitchFamily="34" charset="0"/>
              </a:rPr>
              <a:t> </a:t>
            </a:r>
          </a:p>
        </p:txBody>
      </p:sp>
    </p:spTree>
    <p:extLst>
      <p:ext uri="{BB962C8B-B14F-4D97-AF65-F5344CB8AC3E}">
        <p14:creationId xmlns:p14="http://schemas.microsoft.com/office/powerpoint/2010/main" val="474985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35319AA2-C36B-4579-8229-79B87974D564}"/>
              </a:ext>
            </a:extLst>
          </p:cNvPr>
          <p:cNvSpPr>
            <a:spLocks noChangeArrowheads="1"/>
          </p:cNvSpPr>
          <p:nvPr/>
        </p:nvSpPr>
        <p:spPr bwMode="auto">
          <a:xfrm>
            <a:off x="400051" y="363212"/>
            <a:ext cx="115443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Given below are the R</a:t>
            </a:r>
            <a:r>
              <a:rPr kumimoji="0" lang="en-GB" altLang="en-US" sz="2000" b="0" i="0" u="none" strike="noStrike" cap="none" normalizeH="0" baseline="-30000" dirty="0">
                <a:ln>
                  <a:noFill/>
                </a:ln>
                <a:solidFill>
                  <a:schemeClr val="tx1"/>
                </a:solidFill>
                <a:effectLst/>
                <a:ea typeface="Calibri" panose="020F0502020204030204" pitchFamily="34" charset="0"/>
                <a:cs typeface="Arial" panose="020B0604020202020204" pitchFamily="34" charset="0"/>
              </a:rPr>
              <a:t>f</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values for a mixture of two compounds (</a:t>
            </a:r>
            <a:r>
              <a:rPr kumimoji="0" lang="en-GB" altLang="en-US" sz="2000" b="1" i="0" u="none" strike="noStrike" cap="none" normalizeH="0" baseline="0" dirty="0">
                <a:ln>
                  <a:noFill/>
                </a:ln>
                <a:solidFill>
                  <a:schemeClr val="tx1"/>
                </a:solidFill>
                <a:effectLst/>
                <a:ea typeface="Calibri" panose="020F0502020204030204" pitchFamily="34" charset="0"/>
                <a:cs typeface="Arial" panose="020B0604020202020204" pitchFamily="34" charset="0"/>
              </a:rPr>
              <a:t>A</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and </a:t>
            </a:r>
            <a:r>
              <a:rPr kumimoji="0" lang="en-GB" altLang="en-US" sz="2000" b="1" i="0" u="none" strike="noStrike" cap="none" normalizeH="0" baseline="0" dirty="0">
                <a:ln>
                  <a:noFill/>
                </a:ln>
                <a:solidFill>
                  <a:schemeClr val="tx1"/>
                </a:solidFill>
                <a:effectLst/>
                <a:ea typeface="Calibri" panose="020F0502020204030204" pitchFamily="34" charset="0"/>
                <a:cs typeface="Arial" panose="020B0604020202020204" pitchFamily="34" charset="0"/>
              </a:rPr>
              <a:t>B</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analysed by TLC under three different </a:t>
            </a:r>
            <a:r>
              <a:rPr kumimoji="0" lang="en-GB" altLang="en-US" sz="2000" b="0" i="0" u="none" strike="noStrike" cap="none" normalizeH="0" baseline="0" dirty="0">
                <a:ln>
                  <a:noFill/>
                </a:ln>
                <a:effectLst/>
                <a:ea typeface="Calibri" panose="020F0502020204030204" pitchFamily="34" charset="0"/>
                <a:cs typeface="Arial" panose="020B0604020202020204" pitchFamily="34" charset="0"/>
              </a:rPr>
              <a:t>elution conditions. </a:t>
            </a: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GB" altLang="en-US" sz="2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GB" altLang="en-US" sz="2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effectLst/>
                <a:ea typeface="Calibri" panose="020F0502020204030204" pitchFamily="34" charset="0"/>
                <a:cs typeface="Arial" panose="020B0604020202020204" pitchFamily="34" charset="0"/>
              </a:rPr>
              <a:t>What are column volumes </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(CV) used to measure</a:t>
            </a:r>
            <a:r>
              <a:rPr lang="en-GB" altLang="en-US" sz="2000" dirty="0">
                <a:ea typeface="Calibri" panose="020F0502020204030204" pitchFamily="34" charset="0"/>
                <a:cs typeface="Arial" panose="020B0604020202020204" pitchFamily="34" charset="0"/>
              </a:rPr>
              <a:t>?</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What is the relationship between R</a:t>
            </a:r>
            <a:r>
              <a:rPr kumimoji="0" lang="en-GB" altLang="en-US" sz="2000" b="0" i="0" u="none" strike="noStrike" cap="none" normalizeH="0" baseline="-30000" dirty="0">
                <a:ln>
                  <a:noFill/>
                </a:ln>
                <a:solidFill>
                  <a:schemeClr val="tx1"/>
                </a:solidFill>
                <a:effectLst/>
                <a:ea typeface="Calibri" panose="020F0502020204030204" pitchFamily="34" charset="0"/>
                <a:cs typeface="Arial" panose="020B0604020202020204" pitchFamily="34" charset="0"/>
              </a:rPr>
              <a:t>f</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and CV?</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By column chromatography, compound retention is measured in column volumes (CV) </a:t>
            </a:r>
          </a:p>
          <a:p>
            <a:pPr marL="0" marR="0" lvl="0" indent="0" algn="l" defTabSz="914400" rtl="0" eaLnBrk="0" fontAlgn="base" latinLnBrk="0" hangingPunct="0">
              <a:lnSpc>
                <a:spcPct val="100000"/>
              </a:lnSpc>
              <a:spcBef>
                <a:spcPct val="0"/>
              </a:spcBef>
              <a:spcAft>
                <a:spcPct val="0"/>
              </a:spcAft>
              <a:buClrTx/>
              <a:buSzTx/>
              <a:buFontTx/>
              <a:buNone/>
              <a:tabLst/>
            </a:pPr>
            <a:r>
              <a:rPr lang="en-GB" altLang="en-US" sz="2000" dirty="0">
                <a:solidFill>
                  <a:schemeClr val="bg1"/>
                </a:solidFill>
                <a:ea typeface="Calibri" panose="020F0502020204030204" pitchFamily="34" charset="0"/>
                <a:cs typeface="Arial" panose="020B0604020202020204" pitchFamily="34" charset="0"/>
              </a:rPr>
              <a:t>This is t</a:t>
            </a: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he number of column volumes of solvent required to elute the compound off the stationary phase</a:t>
            </a:r>
            <a:endParaRPr kumimoji="0" lang="en-GB" altLang="en-US" sz="20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Elution methods developed by TLC are usually transferable to column chromatography.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bg1"/>
                </a:solidFill>
                <a:effectLst/>
                <a:ea typeface="Calibri" panose="020F0502020204030204" pitchFamily="34" charset="0"/>
                <a:cs typeface="Arial" panose="020B0604020202020204" pitchFamily="34" charset="0"/>
              </a:rPr>
              <a:t>The relationship between Rf and CV is reciprocal CV = 1 / Rf</a:t>
            </a:r>
            <a:endParaRPr kumimoji="0" lang="en-GB" altLang="en-US" sz="2000" b="0" i="0" u="none" strike="noStrike" cap="none" normalizeH="0" baseline="0" dirty="0">
              <a:ln>
                <a:noFill/>
              </a:ln>
              <a:solidFill>
                <a:schemeClr val="bg1"/>
              </a:solidFill>
              <a:effectLst/>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66647F19-515B-42B7-A6B7-C68EB6632E29}"/>
              </a:ext>
            </a:extLst>
          </p:cNvPr>
          <p:cNvGraphicFramePr>
            <a:graphicFrameLocks noGrp="1"/>
          </p:cNvGraphicFramePr>
          <p:nvPr>
            <p:ph idx="1"/>
            <p:extLst>
              <p:ext uri="{D42A27DB-BD31-4B8C-83A1-F6EECF244321}">
                <p14:modId xmlns:p14="http://schemas.microsoft.com/office/powerpoint/2010/main" val="373029149"/>
              </p:ext>
            </p:extLst>
          </p:nvPr>
        </p:nvGraphicFramePr>
        <p:xfrm>
          <a:off x="3327471" y="1394841"/>
          <a:ext cx="4715962" cy="1319784"/>
        </p:xfrm>
        <a:graphic>
          <a:graphicData uri="http://schemas.openxmlformats.org/drawingml/2006/table">
            <a:tbl>
              <a:tblPr firstRow="1" firstCol="1" bandRow="1">
                <a:tableStyleId>{5940675A-B579-460E-94D1-54222C63F5DA}</a:tableStyleId>
              </a:tblPr>
              <a:tblGrid>
                <a:gridCol w="853948">
                  <a:extLst>
                    <a:ext uri="{9D8B030D-6E8A-4147-A177-3AD203B41FA5}">
                      <a16:colId xmlns:a16="http://schemas.microsoft.com/office/drawing/2014/main" val="2661130318"/>
                    </a:ext>
                  </a:extLst>
                </a:gridCol>
                <a:gridCol w="702310">
                  <a:extLst>
                    <a:ext uri="{9D8B030D-6E8A-4147-A177-3AD203B41FA5}">
                      <a16:colId xmlns:a16="http://schemas.microsoft.com/office/drawing/2014/main" val="3130737945"/>
                    </a:ext>
                  </a:extLst>
                </a:gridCol>
                <a:gridCol w="750126">
                  <a:extLst>
                    <a:ext uri="{9D8B030D-6E8A-4147-A177-3AD203B41FA5}">
                      <a16:colId xmlns:a16="http://schemas.microsoft.com/office/drawing/2014/main" val="1943185088"/>
                    </a:ext>
                  </a:extLst>
                </a:gridCol>
                <a:gridCol w="2409578">
                  <a:extLst>
                    <a:ext uri="{9D8B030D-6E8A-4147-A177-3AD203B41FA5}">
                      <a16:colId xmlns:a16="http://schemas.microsoft.com/office/drawing/2014/main" val="1476032031"/>
                    </a:ext>
                  </a:extLst>
                </a:gridCol>
              </a:tblGrid>
              <a:tr h="0">
                <a:tc rowSpan="2">
                  <a:txBody>
                    <a:bodyPr/>
                    <a:lstStyle/>
                    <a:p>
                      <a:pPr>
                        <a:lnSpc>
                          <a:spcPct val="115000"/>
                        </a:lnSpc>
                        <a:spcAft>
                          <a:spcPts val="800"/>
                        </a:spcAft>
                      </a:pPr>
                      <a:r>
                        <a:rPr lang="en-GB" sz="2000">
                          <a:effectLst/>
                        </a:rPr>
                        <a:t>Eluent</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3">
                  <a:txBody>
                    <a:bodyPr/>
                    <a:lstStyle/>
                    <a:p>
                      <a:pPr>
                        <a:lnSpc>
                          <a:spcPct val="115000"/>
                        </a:lnSpc>
                        <a:spcAft>
                          <a:spcPts val="800"/>
                        </a:spcAft>
                      </a:pPr>
                      <a:r>
                        <a:rPr lang="en-GB" sz="2000" dirty="0">
                          <a:effectLst/>
                        </a:rPr>
                        <a:t>R</a:t>
                      </a:r>
                      <a:r>
                        <a:rPr lang="en-GB" sz="2000" baseline="-25000" dirty="0">
                          <a:effectLst/>
                        </a:rPr>
                        <a:t>f</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946640698"/>
                  </a:ext>
                </a:extLst>
              </a:tr>
              <a:tr h="0">
                <a:tc vMerge="1">
                  <a:txBody>
                    <a:bodyPr/>
                    <a:lstStyle/>
                    <a:p>
                      <a:endParaRPr lang="en-GB"/>
                    </a:p>
                  </a:txBody>
                  <a:tcPr/>
                </a:tc>
                <a:tc>
                  <a:txBody>
                    <a:bodyPr/>
                    <a:lstStyle/>
                    <a:p>
                      <a:pPr>
                        <a:lnSpc>
                          <a:spcPct val="115000"/>
                        </a:lnSpc>
                        <a:spcAft>
                          <a:spcPts val="800"/>
                        </a:spcAft>
                      </a:pPr>
                      <a:r>
                        <a:rPr lang="en-GB" sz="2000">
                          <a:effectLst/>
                        </a:rPr>
                        <a:t>DCM</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Ether</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Hexane/Ether (1:1)</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23170132"/>
                  </a:ext>
                </a:extLst>
              </a:tr>
              <a:tr h="0">
                <a:tc>
                  <a:txBody>
                    <a:bodyPr/>
                    <a:lstStyle/>
                    <a:p>
                      <a:pPr>
                        <a:lnSpc>
                          <a:spcPct val="115000"/>
                        </a:lnSpc>
                        <a:spcAft>
                          <a:spcPts val="800"/>
                        </a:spcAft>
                      </a:pPr>
                      <a:r>
                        <a:rPr lang="en-GB" sz="2000">
                          <a:effectLst/>
                        </a:rPr>
                        <a:t>A</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0.8</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0.5</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0.2</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677798"/>
                  </a:ext>
                </a:extLst>
              </a:tr>
              <a:tr h="0">
                <a:tc>
                  <a:txBody>
                    <a:bodyPr/>
                    <a:lstStyle/>
                    <a:p>
                      <a:pPr>
                        <a:lnSpc>
                          <a:spcPct val="115000"/>
                        </a:lnSpc>
                        <a:spcAft>
                          <a:spcPts val="800"/>
                        </a:spcAft>
                      </a:pPr>
                      <a:r>
                        <a:rPr lang="en-GB" sz="2000">
                          <a:effectLst/>
                        </a:rPr>
                        <a:t>B</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dirty="0">
                          <a:effectLst/>
                        </a:rPr>
                        <a:t>0.5</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0.3</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dirty="0">
                          <a:effectLst/>
                        </a:rPr>
                        <a:t>0.15</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40167568"/>
                  </a:ext>
                </a:extLst>
              </a:tr>
            </a:tbl>
          </a:graphicData>
        </a:graphic>
      </p:graphicFrame>
    </p:spTree>
    <p:extLst>
      <p:ext uri="{BB962C8B-B14F-4D97-AF65-F5344CB8AC3E}">
        <p14:creationId xmlns:p14="http://schemas.microsoft.com/office/powerpoint/2010/main" val="2949902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35319AA2-C36B-4579-8229-79B87974D564}"/>
              </a:ext>
            </a:extLst>
          </p:cNvPr>
          <p:cNvSpPr>
            <a:spLocks noChangeArrowheads="1"/>
          </p:cNvSpPr>
          <p:nvPr/>
        </p:nvSpPr>
        <p:spPr bwMode="auto">
          <a:xfrm>
            <a:off x="400051" y="470670"/>
            <a:ext cx="11544300" cy="7786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Given below are the R</a:t>
            </a:r>
            <a:r>
              <a:rPr kumimoji="0" lang="en-GB" altLang="en-US" sz="2000" b="0" i="0" u="none" strike="noStrike" cap="none" normalizeH="0" baseline="-30000" dirty="0">
                <a:ln>
                  <a:noFill/>
                </a:ln>
                <a:solidFill>
                  <a:schemeClr val="tx1"/>
                </a:solidFill>
                <a:effectLst/>
                <a:ea typeface="Calibri" panose="020F0502020204030204" pitchFamily="34" charset="0"/>
                <a:cs typeface="Arial" panose="020B0604020202020204" pitchFamily="34" charset="0"/>
              </a:rPr>
              <a:t>f</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values for a mixture of two compounds (</a:t>
            </a:r>
            <a:r>
              <a:rPr kumimoji="0" lang="en-GB" altLang="en-US" sz="2000" b="1" i="0" u="none" strike="noStrike" cap="none" normalizeH="0" baseline="0" dirty="0">
                <a:ln>
                  <a:noFill/>
                </a:ln>
                <a:solidFill>
                  <a:schemeClr val="tx1"/>
                </a:solidFill>
                <a:effectLst/>
                <a:ea typeface="Calibri" panose="020F0502020204030204" pitchFamily="34" charset="0"/>
                <a:cs typeface="Arial" panose="020B0604020202020204" pitchFamily="34" charset="0"/>
              </a:rPr>
              <a:t>A</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and </a:t>
            </a:r>
            <a:r>
              <a:rPr kumimoji="0" lang="en-GB" altLang="en-US" sz="2000" b="1" i="0" u="none" strike="noStrike" cap="none" normalizeH="0" baseline="0" dirty="0">
                <a:ln>
                  <a:noFill/>
                </a:ln>
                <a:solidFill>
                  <a:schemeClr val="tx1"/>
                </a:solidFill>
                <a:effectLst/>
                <a:ea typeface="Calibri" panose="020F0502020204030204" pitchFamily="34" charset="0"/>
                <a:cs typeface="Arial" panose="020B0604020202020204" pitchFamily="34" charset="0"/>
              </a:rPr>
              <a:t>B</a:t>
            </a: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 analysed by TLC under three different </a:t>
            </a:r>
            <a:r>
              <a:rPr kumimoji="0" lang="en-GB" altLang="en-US" sz="2000" b="0" i="0" u="none" strike="noStrike" cap="none" normalizeH="0" baseline="0" dirty="0">
                <a:ln>
                  <a:noFill/>
                </a:ln>
                <a:effectLst/>
                <a:ea typeface="Calibri" panose="020F0502020204030204" pitchFamily="34" charset="0"/>
                <a:cs typeface="Arial" panose="020B0604020202020204" pitchFamily="34" charset="0"/>
              </a:rPr>
              <a:t>elution conditions. </a:t>
            </a:r>
          </a:p>
          <a:p>
            <a:pPr marL="0" marR="0" lvl="0" indent="0" algn="l" defTabSz="914400" rtl="0" eaLnBrk="0" fontAlgn="base" latinLnBrk="0" hangingPunct="0">
              <a:lnSpc>
                <a:spcPct val="100000"/>
              </a:lnSpc>
              <a:spcBef>
                <a:spcPct val="0"/>
              </a:spcBef>
              <a:spcAft>
                <a:spcPct val="0"/>
              </a:spcAft>
              <a:buClrTx/>
              <a:buSzTx/>
              <a:tabLst/>
            </a:pPr>
            <a:endParaRPr lang="en-GB" altLang="en-US" sz="2000" dirty="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GB" altLang="en-US" sz="2000" dirty="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a:p>
            <a:endParaRPr lang="en-GB" altLang="en-US" sz="2000" dirty="0">
              <a:cs typeface="Arial" panose="020B0604020202020204" pitchFamily="34" charset="0"/>
            </a:endParaRPr>
          </a:p>
          <a:p>
            <a:endParaRPr lang="en-GB" altLang="en-US" sz="2000" dirty="0">
              <a:cs typeface="Arial" panose="020B0604020202020204" pitchFamily="34" charset="0"/>
            </a:endParaRPr>
          </a:p>
          <a:p>
            <a:pPr lvl="0"/>
            <a:endParaRPr lang="en-GB" altLang="en-US" sz="2000" dirty="0">
              <a:solidFill>
                <a:srgbClr val="FF0000"/>
              </a:solidFill>
              <a:ea typeface="Times New Roman" panose="02020603050405020304" pitchFamily="18" charset="0"/>
              <a:cs typeface="Arial" panose="020B0604020202020204" pitchFamily="34" charset="0"/>
            </a:endParaRPr>
          </a:p>
          <a:p>
            <a:pPr lvl="0"/>
            <a:endParaRPr lang="en-GB" altLang="en-US" sz="2000" dirty="0">
              <a:solidFill>
                <a:srgbClr val="FF0000"/>
              </a:solidFill>
              <a:ea typeface="Times New Roman" panose="02020603050405020304" pitchFamily="18" charset="0"/>
              <a:cs typeface="Arial" panose="020B0604020202020204" pitchFamily="34" charset="0"/>
            </a:endParaRPr>
          </a:p>
          <a:p>
            <a:pPr lvl="0"/>
            <a:endParaRPr lang="en-GB" altLang="en-US" sz="2000" dirty="0">
              <a:solidFill>
                <a:srgbClr val="FF0000"/>
              </a:solidFill>
              <a:ea typeface="Times New Roman" panose="02020603050405020304" pitchFamily="18" charset="0"/>
              <a:cs typeface="Arial" panose="020B0604020202020204" pitchFamily="34" charset="0"/>
            </a:endParaRPr>
          </a:p>
          <a:p>
            <a:pPr lvl="0"/>
            <a:endParaRPr lang="en-GB" altLang="en-US" sz="2000" dirty="0">
              <a:solidFill>
                <a:srgbClr val="FF0000"/>
              </a:solidFill>
              <a:ea typeface="Times New Roman" panose="02020603050405020304" pitchFamily="18" charset="0"/>
              <a:cs typeface="Arial" panose="020B0604020202020204" pitchFamily="34" charset="0"/>
            </a:endParaRPr>
          </a:p>
          <a:p>
            <a:pPr lvl="0"/>
            <a:endParaRPr lang="en-GB" altLang="en-US" sz="2000" dirty="0">
              <a:solidFill>
                <a:srgbClr val="FF0000"/>
              </a:solidFill>
              <a:ea typeface="Times New Roman" panose="02020603050405020304" pitchFamily="18" charset="0"/>
              <a:cs typeface="Arial" panose="020B0604020202020204" pitchFamily="34" charset="0"/>
            </a:endParaRPr>
          </a:p>
          <a:p>
            <a:pPr lvl="0"/>
            <a:r>
              <a:rPr lang="en-GB" altLang="en-US" sz="2000" dirty="0">
                <a:solidFill>
                  <a:schemeClr val="bg1"/>
                </a:solidFill>
                <a:ea typeface="Times New Roman" panose="02020603050405020304" pitchFamily="18" charset="0"/>
                <a:cs typeface="Arial" panose="020B0604020202020204" pitchFamily="34" charset="0"/>
              </a:rPr>
              <a:t>Hexane/ether (1:1) will give greatest difference in CV between </a:t>
            </a:r>
            <a:r>
              <a:rPr lang="en-GB" altLang="en-US" sz="2000" b="1" dirty="0">
                <a:solidFill>
                  <a:schemeClr val="bg1"/>
                </a:solidFill>
                <a:ea typeface="Times New Roman" panose="02020603050405020304" pitchFamily="18" charset="0"/>
                <a:cs typeface="Arial" panose="020B0604020202020204" pitchFamily="34" charset="0"/>
              </a:rPr>
              <a:t>A </a:t>
            </a:r>
            <a:r>
              <a:rPr lang="en-GB" altLang="en-US" sz="2000" dirty="0">
                <a:solidFill>
                  <a:schemeClr val="bg1"/>
                </a:solidFill>
                <a:ea typeface="Times New Roman" panose="02020603050405020304" pitchFamily="18" charset="0"/>
                <a:cs typeface="Arial" panose="020B0604020202020204" pitchFamily="34" charset="0"/>
              </a:rPr>
              <a:t>and </a:t>
            </a:r>
            <a:r>
              <a:rPr lang="en-GB" altLang="en-US" sz="2000" b="1" dirty="0">
                <a:solidFill>
                  <a:schemeClr val="bg1"/>
                </a:solidFill>
                <a:ea typeface="Times New Roman" panose="02020603050405020304" pitchFamily="18" charset="0"/>
                <a:cs typeface="Arial" panose="020B0604020202020204" pitchFamily="34" charset="0"/>
              </a:rPr>
              <a:t>B </a:t>
            </a:r>
            <a:r>
              <a:rPr lang="en-GB" altLang="en-US" sz="2000" dirty="0">
                <a:solidFill>
                  <a:schemeClr val="bg1"/>
                </a:solidFill>
                <a:ea typeface="Times New Roman" panose="02020603050405020304" pitchFamily="18" charset="0"/>
                <a:cs typeface="Arial" panose="020B0604020202020204" pitchFamily="34" charset="0"/>
              </a:rPr>
              <a:t>hence will give the best compound resolution by chromatography. </a:t>
            </a:r>
            <a:endParaRPr lang="en-GB" altLang="en-US" sz="2000" dirty="0">
              <a:solidFill>
                <a:schemeClr val="bg1"/>
              </a:solidFill>
              <a:cs typeface="Arial" panose="020B0604020202020204" pitchFamily="34" charset="0"/>
            </a:endParaRPr>
          </a:p>
          <a:p>
            <a:pPr lvl="0"/>
            <a:r>
              <a:rPr lang="en-GB" altLang="en-US" sz="2000" dirty="0">
                <a:solidFill>
                  <a:schemeClr val="bg1"/>
                </a:solidFill>
                <a:ea typeface="Calibri" panose="020F0502020204030204" pitchFamily="34" charset="0"/>
                <a:cs typeface="Arial" panose="020B0604020202020204" pitchFamily="34" charset="0"/>
              </a:rPr>
              <a:t>Note: it is the difference in CV not Rf that is the main determinant of resolution by column chromatography</a:t>
            </a:r>
            <a:endParaRPr lang="en-GB" altLang="en-US" sz="2000" dirty="0">
              <a:solidFill>
                <a:schemeClr val="bg1"/>
              </a:solidFill>
              <a:cs typeface="Arial" panose="020B0604020202020204" pitchFamily="34" charset="0"/>
            </a:endParaRPr>
          </a:p>
          <a:p>
            <a:endParaRPr lang="en-GB" altLang="en-US" sz="2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GB" altLang="en-US" sz="2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GB" altLang="en-US" sz="2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altLang="en-US" sz="2000" b="0" i="0" u="none" strike="noStrike" cap="none" normalizeH="0" baseline="0" dirty="0">
              <a:ln>
                <a:noFill/>
              </a:ln>
              <a:effectLst/>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66647F19-515B-42B7-A6B7-C68EB6632E29}"/>
              </a:ext>
            </a:extLst>
          </p:cNvPr>
          <p:cNvGraphicFramePr>
            <a:graphicFrameLocks noGrp="1"/>
          </p:cNvGraphicFramePr>
          <p:nvPr>
            <p:ph idx="1"/>
            <p:extLst>
              <p:ext uri="{D42A27DB-BD31-4B8C-83A1-F6EECF244321}">
                <p14:modId xmlns:p14="http://schemas.microsoft.com/office/powerpoint/2010/main" val="2568009160"/>
              </p:ext>
            </p:extLst>
          </p:nvPr>
        </p:nvGraphicFramePr>
        <p:xfrm>
          <a:off x="3333486" y="1167244"/>
          <a:ext cx="4715962" cy="1319784"/>
        </p:xfrm>
        <a:graphic>
          <a:graphicData uri="http://schemas.openxmlformats.org/drawingml/2006/table">
            <a:tbl>
              <a:tblPr firstRow="1" firstCol="1" bandRow="1">
                <a:tableStyleId>{5940675A-B579-460E-94D1-54222C63F5DA}</a:tableStyleId>
              </a:tblPr>
              <a:tblGrid>
                <a:gridCol w="853948">
                  <a:extLst>
                    <a:ext uri="{9D8B030D-6E8A-4147-A177-3AD203B41FA5}">
                      <a16:colId xmlns:a16="http://schemas.microsoft.com/office/drawing/2014/main" val="2661130318"/>
                    </a:ext>
                  </a:extLst>
                </a:gridCol>
                <a:gridCol w="702310">
                  <a:extLst>
                    <a:ext uri="{9D8B030D-6E8A-4147-A177-3AD203B41FA5}">
                      <a16:colId xmlns:a16="http://schemas.microsoft.com/office/drawing/2014/main" val="3130737945"/>
                    </a:ext>
                  </a:extLst>
                </a:gridCol>
                <a:gridCol w="750126">
                  <a:extLst>
                    <a:ext uri="{9D8B030D-6E8A-4147-A177-3AD203B41FA5}">
                      <a16:colId xmlns:a16="http://schemas.microsoft.com/office/drawing/2014/main" val="1943185088"/>
                    </a:ext>
                  </a:extLst>
                </a:gridCol>
                <a:gridCol w="2409578">
                  <a:extLst>
                    <a:ext uri="{9D8B030D-6E8A-4147-A177-3AD203B41FA5}">
                      <a16:colId xmlns:a16="http://schemas.microsoft.com/office/drawing/2014/main" val="1476032031"/>
                    </a:ext>
                  </a:extLst>
                </a:gridCol>
              </a:tblGrid>
              <a:tr h="0">
                <a:tc rowSpan="2">
                  <a:txBody>
                    <a:bodyPr/>
                    <a:lstStyle/>
                    <a:p>
                      <a:pPr>
                        <a:lnSpc>
                          <a:spcPct val="115000"/>
                        </a:lnSpc>
                        <a:spcAft>
                          <a:spcPts val="800"/>
                        </a:spcAft>
                      </a:pPr>
                      <a:r>
                        <a:rPr lang="en-GB" sz="2000">
                          <a:effectLst/>
                        </a:rPr>
                        <a:t>Eluent</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3">
                  <a:txBody>
                    <a:bodyPr/>
                    <a:lstStyle/>
                    <a:p>
                      <a:pPr>
                        <a:lnSpc>
                          <a:spcPct val="115000"/>
                        </a:lnSpc>
                        <a:spcAft>
                          <a:spcPts val="800"/>
                        </a:spcAft>
                      </a:pPr>
                      <a:r>
                        <a:rPr lang="en-GB" sz="2000" dirty="0">
                          <a:effectLst/>
                        </a:rPr>
                        <a:t>R</a:t>
                      </a:r>
                      <a:r>
                        <a:rPr lang="en-GB" sz="2000" baseline="-25000" dirty="0">
                          <a:effectLst/>
                        </a:rPr>
                        <a:t>f</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946640698"/>
                  </a:ext>
                </a:extLst>
              </a:tr>
              <a:tr h="0">
                <a:tc vMerge="1">
                  <a:txBody>
                    <a:bodyPr/>
                    <a:lstStyle/>
                    <a:p>
                      <a:endParaRPr lang="en-GB"/>
                    </a:p>
                  </a:txBody>
                  <a:tcPr/>
                </a:tc>
                <a:tc>
                  <a:txBody>
                    <a:bodyPr/>
                    <a:lstStyle/>
                    <a:p>
                      <a:pPr>
                        <a:lnSpc>
                          <a:spcPct val="115000"/>
                        </a:lnSpc>
                        <a:spcAft>
                          <a:spcPts val="800"/>
                        </a:spcAft>
                      </a:pPr>
                      <a:r>
                        <a:rPr lang="en-GB" sz="2000">
                          <a:effectLst/>
                        </a:rPr>
                        <a:t>DCM</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Ether</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Hexane/Ether (1:1)</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23170132"/>
                  </a:ext>
                </a:extLst>
              </a:tr>
              <a:tr h="0">
                <a:tc>
                  <a:txBody>
                    <a:bodyPr/>
                    <a:lstStyle/>
                    <a:p>
                      <a:pPr>
                        <a:lnSpc>
                          <a:spcPct val="115000"/>
                        </a:lnSpc>
                        <a:spcAft>
                          <a:spcPts val="800"/>
                        </a:spcAft>
                      </a:pPr>
                      <a:r>
                        <a:rPr lang="en-GB" sz="2000">
                          <a:effectLst/>
                        </a:rPr>
                        <a:t>A</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0.8</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0.5</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0.2</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677798"/>
                  </a:ext>
                </a:extLst>
              </a:tr>
              <a:tr h="0">
                <a:tc>
                  <a:txBody>
                    <a:bodyPr/>
                    <a:lstStyle/>
                    <a:p>
                      <a:pPr>
                        <a:lnSpc>
                          <a:spcPct val="115000"/>
                        </a:lnSpc>
                        <a:spcAft>
                          <a:spcPts val="800"/>
                        </a:spcAft>
                      </a:pPr>
                      <a:r>
                        <a:rPr lang="en-GB" sz="2000">
                          <a:effectLst/>
                        </a:rPr>
                        <a:t>B</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0.5</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a:effectLst/>
                        </a:rPr>
                        <a:t>0.3</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GB" sz="2000" dirty="0">
                          <a:effectLst/>
                        </a:rPr>
                        <a:t>0.15</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40167568"/>
                  </a:ext>
                </a:extLst>
              </a:tr>
            </a:tbl>
          </a:graphicData>
        </a:graphic>
      </p:graphicFrame>
    </p:spTree>
    <p:extLst>
      <p:ext uri="{BB962C8B-B14F-4D97-AF65-F5344CB8AC3E}">
        <p14:creationId xmlns:p14="http://schemas.microsoft.com/office/powerpoint/2010/main" val="2197641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E51F688-DCDE-42E8-B26B-B48DC198D424}"/>
              </a:ext>
            </a:extLst>
          </p:cNvPr>
          <p:cNvSpPr>
            <a:spLocks noChangeArrowheads="1"/>
          </p:cNvSpPr>
          <p:nvPr/>
        </p:nvSpPr>
        <p:spPr bwMode="auto">
          <a:xfrm>
            <a:off x="390525" y="262474"/>
            <a:ext cx="56007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GB"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Compounds </a:t>
            </a:r>
            <a:r>
              <a:rPr kumimoji="0" lang="en-GB" altLang="en-US" sz="20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C-G</a:t>
            </a:r>
            <a:r>
              <a:rPr kumimoji="0" lang="en-GB"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are analogues of morphine which you are using in a study as a receptor agonist. </a:t>
            </a:r>
            <a:r>
              <a:rPr lang="en-GB" altLang="en-US" sz="2000" dirty="0">
                <a:latin typeface="Arial" panose="020B0604020202020204" pitchFamily="34" charset="0"/>
                <a:ea typeface="Calibri" panose="020F0502020204030204" pitchFamily="34" charset="0"/>
                <a:cs typeface="Arial" panose="020B0604020202020204" pitchFamily="34" charset="0"/>
              </a:rPr>
              <a:t>Order compounds </a:t>
            </a:r>
            <a:r>
              <a:rPr lang="en-GB" altLang="en-US" sz="2000" b="1" dirty="0">
                <a:latin typeface="Arial" panose="020B0604020202020204" pitchFamily="34" charset="0"/>
                <a:ea typeface="Calibri" panose="020F0502020204030204" pitchFamily="34" charset="0"/>
                <a:cs typeface="Arial" panose="020B0604020202020204" pitchFamily="34" charset="0"/>
              </a:rPr>
              <a:t>C-G</a:t>
            </a:r>
            <a:r>
              <a:rPr lang="en-GB" altLang="en-US" sz="2000" dirty="0">
                <a:latin typeface="Arial" panose="020B0604020202020204" pitchFamily="34" charset="0"/>
                <a:ea typeface="Calibri" panose="020F0502020204030204" pitchFamily="34" charset="0"/>
                <a:cs typeface="Arial" panose="020B0604020202020204" pitchFamily="34" charset="0"/>
              </a:rPr>
              <a:t> in terms of highest to lowest R</a:t>
            </a:r>
            <a:r>
              <a:rPr lang="en-GB" altLang="en-US" sz="2000" baseline="-30000" dirty="0">
                <a:latin typeface="Arial" panose="020B0604020202020204" pitchFamily="34" charset="0"/>
                <a:ea typeface="Calibri" panose="020F0502020204030204" pitchFamily="34" charset="0"/>
                <a:cs typeface="Arial" panose="020B0604020202020204" pitchFamily="34" charset="0"/>
              </a:rPr>
              <a:t>f</a:t>
            </a:r>
            <a:r>
              <a:rPr lang="en-GB" altLang="en-US" sz="2000" dirty="0">
                <a:latin typeface="Arial" panose="020B0604020202020204" pitchFamily="34" charset="0"/>
                <a:ea typeface="Calibri" panose="020F0502020204030204" pitchFamily="34" charset="0"/>
                <a:cs typeface="Arial" panose="020B0604020202020204" pitchFamily="34" charset="0"/>
              </a:rPr>
              <a:t> values that would be expected if they were analysed by normal phase TLC under neutral pH conditions. Explain your answer. </a:t>
            </a:r>
            <a:endParaRPr lang="en-GB" altLang="en-US" sz="20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graphicFrame>
        <p:nvGraphicFramePr>
          <p:cNvPr id="5" name="Object 4">
            <a:extLst>
              <a:ext uri="{FF2B5EF4-FFF2-40B4-BE49-F238E27FC236}">
                <a16:creationId xmlns:a16="http://schemas.microsoft.com/office/drawing/2014/main" id="{BBA33CD2-71F2-4F07-92E8-1F389F7890F9}"/>
              </a:ext>
            </a:extLst>
          </p:cNvPr>
          <p:cNvGraphicFramePr>
            <a:graphicFrameLocks noChangeAspect="1"/>
          </p:cNvGraphicFramePr>
          <p:nvPr>
            <p:extLst>
              <p:ext uri="{D42A27DB-BD31-4B8C-83A1-F6EECF244321}">
                <p14:modId xmlns:p14="http://schemas.microsoft.com/office/powerpoint/2010/main" val="1875363229"/>
              </p:ext>
            </p:extLst>
          </p:nvPr>
        </p:nvGraphicFramePr>
        <p:xfrm>
          <a:off x="5756223" y="322035"/>
          <a:ext cx="6064302" cy="3411170"/>
        </p:xfrm>
        <a:graphic>
          <a:graphicData uri="http://schemas.openxmlformats.org/presentationml/2006/ole">
            <mc:AlternateContent xmlns:mc="http://schemas.openxmlformats.org/markup-compatibility/2006">
              <mc:Choice xmlns:v="urn:schemas-microsoft-com:vml" Requires="v">
                <p:oleObj name="CS ChemDraw Drawing" r:id="rId2" imgW="4879497" imgH="2739687" progId="ChemDraw.Document.6.0">
                  <p:embed/>
                </p:oleObj>
              </mc:Choice>
              <mc:Fallback>
                <p:oleObj name="CS ChemDraw Drawing" r:id="rId2" imgW="4879497" imgH="2739687" progId="ChemDraw.Document.6.0">
                  <p:embed/>
                  <p:pic>
                    <p:nvPicPr>
                      <p:cNvPr id="5" name="Object 4">
                        <a:extLst>
                          <a:ext uri="{FF2B5EF4-FFF2-40B4-BE49-F238E27FC236}">
                            <a16:creationId xmlns:a16="http://schemas.microsoft.com/office/drawing/2014/main" id="{BBA33CD2-71F2-4F07-92E8-1F389F7890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6223" y="322035"/>
                        <a:ext cx="6064302" cy="3411170"/>
                      </a:xfrm>
                      <a:prstGeom prst="rect">
                        <a:avLst/>
                      </a:prstGeom>
                      <a:noFill/>
                    </p:spPr>
                  </p:pic>
                </p:oleObj>
              </mc:Fallback>
            </mc:AlternateContent>
          </a:graphicData>
        </a:graphic>
      </p:graphicFrame>
    </p:spTree>
    <p:extLst>
      <p:ext uri="{BB962C8B-B14F-4D97-AF65-F5344CB8AC3E}">
        <p14:creationId xmlns:p14="http://schemas.microsoft.com/office/powerpoint/2010/main" val="1126960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249827D-4470-458D-848C-E05F681C586E}"/>
              </a:ext>
            </a:extLst>
          </p:cNvPr>
          <p:cNvSpPr>
            <a:spLocks noChangeArrowheads="1"/>
          </p:cNvSpPr>
          <p:nvPr/>
        </p:nvSpPr>
        <p:spPr bwMode="auto">
          <a:xfrm>
            <a:off x="457200" y="305111"/>
            <a:ext cx="112776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Below is a HPLC trace of an unknown mixture of compounds monitored at 254 nm. Which compound 1-4 has the highest concentration in the solution that was injected?</a:t>
            </a:r>
            <a:endParaRPr kumimoji="0" lang="en-GB" altLang="en-US" sz="20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chemeClr val="tx1"/>
              </a:solidFill>
              <a:effectLst/>
              <a:cs typeface="Arial" panose="020B0604020202020204" pitchFamily="34" charset="0"/>
            </a:endParaRPr>
          </a:p>
        </p:txBody>
      </p:sp>
      <p:pic>
        <p:nvPicPr>
          <p:cNvPr id="7169" name="Picture 27">
            <a:extLst>
              <a:ext uri="{FF2B5EF4-FFF2-40B4-BE49-F238E27FC236}">
                <a16:creationId xmlns:a16="http://schemas.microsoft.com/office/drawing/2014/main" id="{33DED327-9EAA-4E6A-8C60-2A5E0F00AB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625" y="1112515"/>
            <a:ext cx="6572250" cy="3378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280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7F3F824-BBB2-4800-9E55-51C044556B76}"/>
              </a:ext>
            </a:extLst>
          </p:cNvPr>
          <p:cNvSpPr>
            <a:spLocks noChangeArrowheads="1"/>
          </p:cNvSpPr>
          <p:nvPr/>
        </p:nvSpPr>
        <p:spPr bwMode="auto">
          <a:xfrm>
            <a:off x="304802" y="111890"/>
            <a:ext cx="1136332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A mass of 2.398 g of a newly synthesised compound (Compound 1), was completely dissolved in 150 mL of water. The pH of the resulting solution was 4.6. This aqueous solution was then extracted with 100 mL of n-octanol. To find out the concentration of compound 1 in the organic phase, a sample of 10 mL was diluted to 100 mL with mobile phase and 20 µL injected in a HPLC (normal phase). The peak area (AUC) obtained was 179,142 units. A previous injection of 20 µL of a standard solution of 1 mg/ml of compound 1 gave a peak area of 132,698 units. Calculate the P(octanol/water) of compound 1.</a:t>
            </a:r>
            <a:endParaRPr kumimoji="0" lang="en-GB" altLang="en-US" sz="2000" b="0" i="0" u="none" strike="noStrike" cap="none" normalizeH="0" baseline="0" dirty="0">
              <a:ln>
                <a:noFill/>
              </a:ln>
              <a:solidFill>
                <a:schemeClr val="tx1"/>
              </a:solidFill>
              <a:effectLst/>
              <a:cs typeface="Arial" panose="020B0604020202020204" pitchFamily="34" charset="0"/>
            </a:endParaRPr>
          </a:p>
          <a:p>
            <a:pPr marR="0" lvl="0" indent="0" algn="l" defTabSz="914400" rtl="0" eaLnBrk="0" fontAlgn="base" latinLnBrk="0" hangingPunct="0">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FF0000"/>
              </a:solidFill>
              <a:effectLst/>
              <a:ea typeface="Calibri" panose="020F0502020204030204" pitchFamily="34" charset="0"/>
              <a:cs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chemeClr val="tx1"/>
              </a:solidFill>
              <a:effectLst/>
              <a:cs typeface="Arial" panose="020B0604020202020204" pitchFamily="34" charset="0"/>
            </a:endParaRPr>
          </a:p>
        </p:txBody>
      </p:sp>
    </p:spTree>
    <p:extLst>
      <p:ext uri="{BB962C8B-B14F-4D97-AF65-F5344CB8AC3E}">
        <p14:creationId xmlns:p14="http://schemas.microsoft.com/office/powerpoint/2010/main" val="1916549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4BBDAE4-D7CB-42CD-931E-056C9071FC2F}"/>
              </a:ext>
            </a:extLst>
          </p:cNvPr>
          <p:cNvSpPr/>
          <p:nvPr/>
        </p:nvSpPr>
        <p:spPr>
          <a:xfrm>
            <a:off x="428624" y="457885"/>
            <a:ext cx="11058525" cy="707886"/>
          </a:xfrm>
          <a:prstGeom prst="rect">
            <a:avLst/>
          </a:prstGeom>
        </p:spPr>
        <p:txBody>
          <a:bodyPr wrap="square">
            <a:spAutoFit/>
          </a:bodyPr>
          <a:lstStyle/>
          <a:p>
            <a:pPr lvl="0" eaLnBrk="0" fontAlgn="base" hangingPunct="0">
              <a:spcBef>
                <a:spcPct val="0"/>
              </a:spcBef>
              <a:spcAft>
                <a:spcPct val="0"/>
              </a:spcAft>
            </a:pPr>
            <a:r>
              <a:rPr lang="en-GB" altLang="en-US" sz="2000" dirty="0">
                <a:latin typeface="Arial" panose="020B0604020202020204" pitchFamily="34" charset="0"/>
                <a:ea typeface="Calibri" panose="020F0502020204030204" pitchFamily="34" charset="0"/>
                <a:cs typeface="Arial" panose="020B0604020202020204" pitchFamily="34" charset="0"/>
              </a:rPr>
              <a:t>How can you modify the aqueous phase to prevent compound 1 being extracted into the organic phase?</a:t>
            </a:r>
            <a:endParaRPr lang="en-GB"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2163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TotalTime>
  <Words>926</Words>
  <Application>Microsoft Office PowerPoint</Application>
  <PresentationFormat>Widescreen</PresentationFormat>
  <Paragraphs>87</Paragraphs>
  <Slides>13</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Office Theme</vt:lpstr>
      <vt:lpstr>CS ChemDraw Drawing</vt:lpstr>
      <vt:lpstr>UV-vis and fluorescence spectroscopy</vt:lpstr>
      <vt:lpstr>PowerPoint Presentation</vt:lpstr>
      <vt:lpstr>PowerPoint Presentation</vt:lpstr>
      <vt:lpstr>PowerPoint Presentation</vt:lpstr>
      <vt:lpstr>Separation and chromatography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Wells, Geoffrey</dc:creator>
  <cp:lastModifiedBy>Christopher Serpell</cp:lastModifiedBy>
  <cp:revision>11</cp:revision>
  <dcterms:created xsi:type="dcterms:W3CDTF">2021-02-01T13:35:43Z</dcterms:created>
  <dcterms:modified xsi:type="dcterms:W3CDTF">2026-02-05T14:11:45Z</dcterms:modified>
</cp:coreProperties>
</file>