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sldIdLst>
    <p:sldId id="273" r:id="rId2"/>
    <p:sldId id="256" r:id="rId3"/>
    <p:sldId id="257" r:id="rId4"/>
    <p:sldId id="269" r:id="rId5"/>
    <p:sldId id="274" r:id="rId6"/>
    <p:sldId id="259" r:id="rId7"/>
    <p:sldId id="260" r:id="rId8"/>
    <p:sldId id="262"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790" autoAdjust="0"/>
    <p:restoredTop sz="94660"/>
  </p:normalViewPr>
  <p:slideViewPr>
    <p:cSldViewPr snapToGrid="0">
      <p:cViewPr varScale="1">
        <p:scale>
          <a:sx n="123" d="100"/>
          <a:sy n="123" d="100"/>
        </p:scale>
        <p:origin x="77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e Waller" userId="6ca8c4d0cd5e5fcc" providerId="LiveId" clId="{767064F5-37A5-4EDA-87B1-0CEDEF086B36}"/>
    <pc:docChg chg="delSld">
      <pc:chgData name="Zoe Waller" userId="6ca8c4d0cd5e5fcc" providerId="LiveId" clId="{767064F5-37A5-4EDA-87B1-0CEDEF086B36}" dt="2025-01-28T22:55:07.070" v="0" actId="47"/>
      <pc:docMkLst>
        <pc:docMk/>
      </pc:docMkLst>
      <pc:sldChg chg="del">
        <pc:chgData name="Zoe Waller" userId="6ca8c4d0cd5e5fcc" providerId="LiveId" clId="{767064F5-37A5-4EDA-87B1-0CEDEF086B36}" dt="2025-01-28T22:55:07.070" v="0" actId="47"/>
        <pc:sldMkLst>
          <pc:docMk/>
          <pc:sldMk cId="3241791064" sldId="261"/>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3903E-4192-41C5-BCCB-EB73148CD8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0FD86487-DB26-4B55-B743-75595831D8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7022334-8B9B-44F8-A4ED-2E7D7A4211A9}"/>
              </a:ext>
            </a:extLst>
          </p:cNvPr>
          <p:cNvSpPr>
            <a:spLocks noGrp="1"/>
          </p:cNvSpPr>
          <p:nvPr>
            <p:ph type="dt" sz="half" idx="10"/>
          </p:nvPr>
        </p:nvSpPr>
        <p:spPr/>
        <p:txBody>
          <a:bodyPr/>
          <a:lstStyle/>
          <a:p>
            <a:fld id="{B320DE66-3C04-4EA4-9A3E-BDA1C256ECA7}" type="datetimeFigureOut">
              <a:rPr lang="en-GB" smtClean="0"/>
              <a:t>06/02/2025</a:t>
            </a:fld>
            <a:endParaRPr lang="en-GB"/>
          </a:p>
        </p:txBody>
      </p:sp>
      <p:sp>
        <p:nvSpPr>
          <p:cNvPr id="5" name="Footer Placeholder 4">
            <a:extLst>
              <a:ext uri="{FF2B5EF4-FFF2-40B4-BE49-F238E27FC236}">
                <a16:creationId xmlns:a16="http://schemas.microsoft.com/office/drawing/2014/main" id="{E6CD38D0-51D4-4AAC-AF97-1399691DF65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AB327F2-13F4-4EF1-B239-673B29E2CBF8}"/>
              </a:ext>
            </a:extLst>
          </p:cNvPr>
          <p:cNvSpPr>
            <a:spLocks noGrp="1"/>
          </p:cNvSpPr>
          <p:nvPr>
            <p:ph type="sldNum" sz="quarter" idx="12"/>
          </p:nvPr>
        </p:nvSpPr>
        <p:spPr/>
        <p:txBody>
          <a:bodyPr/>
          <a:lstStyle/>
          <a:p>
            <a:fld id="{BDE9ABDD-E8CF-4733-8366-D16FE81E16A2}" type="slidenum">
              <a:rPr lang="en-GB" smtClean="0"/>
              <a:t>‹#›</a:t>
            </a:fld>
            <a:endParaRPr lang="en-GB"/>
          </a:p>
        </p:txBody>
      </p:sp>
    </p:spTree>
    <p:extLst>
      <p:ext uri="{BB962C8B-B14F-4D97-AF65-F5344CB8AC3E}">
        <p14:creationId xmlns:p14="http://schemas.microsoft.com/office/powerpoint/2010/main" val="39512078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A790E-A524-439B-8D78-C175B21D29C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33C80FB-0B66-462F-BE67-AC6B1084B2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B5E1BF7-EB37-47DF-877C-E6B67680012C}"/>
              </a:ext>
            </a:extLst>
          </p:cNvPr>
          <p:cNvSpPr>
            <a:spLocks noGrp="1"/>
          </p:cNvSpPr>
          <p:nvPr>
            <p:ph type="dt" sz="half" idx="10"/>
          </p:nvPr>
        </p:nvSpPr>
        <p:spPr/>
        <p:txBody>
          <a:bodyPr/>
          <a:lstStyle/>
          <a:p>
            <a:fld id="{B320DE66-3C04-4EA4-9A3E-BDA1C256ECA7}" type="datetimeFigureOut">
              <a:rPr lang="en-GB" smtClean="0"/>
              <a:t>06/02/2025</a:t>
            </a:fld>
            <a:endParaRPr lang="en-GB"/>
          </a:p>
        </p:txBody>
      </p:sp>
      <p:sp>
        <p:nvSpPr>
          <p:cNvPr id="5" name="Footer Placeholder 4">
            <a:extLst>
              <a:ext uri="{FF2B5EF4-FFF2-40B4-BE49-F238E27FC236}">
                <a16:creationId xmlns:a16="http://schemas.microsoft.com/office/drawing/2014/main" id="{9F445A9C-693C-4023-8C66-1346544F350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E216CC8-FAD3-4F7D-AE2A-D3F9918BEEC0}"/>
              </a:ext>
            </a:extLst>
          </p:cNvPr>
          <p:cNvSpPr>
            <a:spLocks noGrp="1"/>
          </p:cNvSpPr>
          <p:nvPr>
            <p:ph type="sldNum" sz="quarter" idx="12"/>
          </p:nvPr>
        </p:nvSpPr>
        <p:spPr/>
        <p:txBody>
          <a:bodyPr/>
          <a:lstStyle/>
          <a:p>
            <a:fld id="{BDE9ABDD-E8CF-4733-8366-D16FE81E16A2}" type="slidenum">
              <a:rPr lang="en-GB" smtClean="0"/>
              <a:t>‹#›</a:t>
            </a:fld>
            <a:endParaRPr lang="en-GB"/>
          </a:p>
        </p:txBody>
      </p:sp>
    </p:spTree>
    <p:extLst>
      <p:ext uri="{BB962C8B-B14F-4D97-AF65-F5344CB8AC3E}">
        <p14:creationId xmlns:p14="http://schemas.microsoft.com/office/powerpoint/2010/main" val="4287245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BA982-3523-491C-B834-0ED9C13D554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CBC55B0-7E23-4DB5-AB7A-3B9B9C80D3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AD90C4-8487-45E6-B3A4-166279D868FE}"/>
              </a:ext>
            </a:extLst>
          </p:cNvPr>
          <p:cNvSpPr>
            <a:spLocks noGrp="1"/>
          </p:cNvSpPr>
          <p:nvPr>
            <p:ph type="dt" sz="half" idx="10"/>
          </p:nvPr>
        </p:nvSpPr>
        <p:spPr/>
        <p:txBody>
          <a:bodyPr/>
          <a:lstStyle/>
          <a:p>
            <a:fld id="{B320DE66-3C04-4EA4-9A3E-BDA1C256ECA7}" type="datetimeFigureOut">
              <a:rPr lang="en-GB" smtClean="0"/>
              <a:t>06/02/2025</a:t>
            </a:fld>
            <a:endParaRPr lang="en-GB"/>
          </a:p>
        </p:txBody>
      </p:sp>
      <p:sp>
        <p:nvSpPr>
          <p:cNvPr id="5" name="Footer Placeholder 4">
            <a:extLst>
              <a:ext uri="{FF2B5EF4-FFF2-40B4-BE49-F238E27FC236}">
                <a16:creationId xmlns:a16="http://schemas.microsoft.com/office/drawing/2014/main" id="{B3F00F98-99CE-41F1-A078-5FAE3E45CA3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2D091A8-4E25-4109-A869-24B73345E02D}"/>
              </a:ext>
            </a:extLst>
          </p:cNvPr>
          <p:cNvSpPr>
            <a:spLocks noGrp="1"/>
          </p:cNvSpPr>
          <p:nvPr>
            <p:ph type="sldNum" sz="quarter" idx="12"/>
          </p:nvPr>
        </p:nvSpPr>
        <p:spPr/>
        <p:txBody>
          <a:bodyPr/>
          <a:lstStyle/>
          <a:p>
            <a:fld id="{BDE9ABDD-E8CF-4733-8366-D16FE81E16A2}" type="slidenum">
              <a:rPr lang="en-GB" smtClean="0"/>
              <a:t>‹#›</a:t>
            </a:fld>
            <a:endParaRPr lang="en-GB"/>
          </a:p>
        </p:txBody>
      </p:sp>
    </p:spTree>
    <p:extLst>
      <p:ext uri="{BB962C8B-B14F-4D97-AF65-F5344CB8AC3E}">
        <p14:creationId xmlns:p14="http://schemas.microsoft.com/office/powerpoint/2010/main" val="941572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AD2A0-9835-419A-811E-E3A4125735C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35A1C49-A1A6-4EB7-8FF6-438C4AF0FD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DC47850-F56F-49F7-AB52-4A9D770388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4C159CE5-211E-488B-A49E-CF31370937FB}"/>
              </a:ext>
            </a:extLst>
          </p:cNvPr>
          <p:cNvSpPr>
            <a:spLocks noGrp="1"/>
          </p:cNvSpPr>
          <p:nvPr>
            <p:ph type="dt" sz="half" idx="10"/>
          </p:nvPr>
        </p:nvSpPr>
        <p:spPr/>
        <p:txBody>
          <a:bodyPr/>
          <a:lstStyle/>
          <a:p>
            <a:fld id="{B320DE66-3C04-4EA4-9A3E-BDA1C256ECA7}" type="datetimeFigureOut">
              <a:rPr lang="en-GB" smtClean="0"/>
              <a:t>06/02/2025</a:t>
            </a:fld>
            <a:endParaRPr lang="en-GB"/>
          </a:p>
        </p:txBody>
      </p:sp>
      <p:sp>
        <p:nvSpPr>
          <p:cNvPr id="6" name="Footer Placeholder 5">
            <a:extLst>
              <a:ext uri="{FF2B5EF4-FFF2-40B4-BE49-F238E27FC236}">
                <a16:creationId xmlns:a16="http://schemas.microsoft.com/office/drawing/2014/main" id="{6B19A6B7-CCFB-4CFF-A5A5-8306FC57CA8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80E442E-29AE-412B-A1D4-F63933500F11}"/>
              </a:ext>
            </a:extLst>
          </p:cNvPr>
          <p:cNvSpPr>
            <a:spLocks noGrp="1"/>
          </p:cNvSpPr>
          <p:nvPr>
            <p:ph type="sldNum" sz="quarter" idx="12"/>
          </p:nvPr>
        </p:nvSpPr>
        <p:spPr/>
        <p:txBody>
          <a:bodyPr/>
          <a:lstStyle/>
          <a:p>
            <a:fld id="{BDE9ABDD-E8CF-4733-8366-D16FE81E16A2}" type="slidenum">
              <a:rPr lang="en-GB" smtClean="0"/>
              <a:t>‹#›</a:t>
            </a:fld>
            <a:endParaRPr lang="en-GB"/>
          </a:p>
        </p:txBody>
      </p:sp>
    </p:spTree>
    <p:extLst>
      <p:ext uri="{BB962C8B-B14F-4D97-AF65-F5344CB8AC3E}">
        <p14:creationId xmlns:p14="http://schemas.microsoft.com/office/powerpoint/2010/main" val="922980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566B9-873E-4AA7-AD61-5CE35DCCACF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6A74342-BA83-43BD-A8BD-3819A59EB4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2C7D37-46B5-4DDB-869D-4A003632DF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93ED3D6A-8DAE-414C-A5C7-18B69BC951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D009C2-A62F-4874-A757-82BF665B73F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2A608F3-44B2-41C9-986D-33E6150A6172}"/>
              </a:ext>
            </a:extLst>
          </p:cNvPr>
          <p:cNvSpPr>
            <a:spLocks noGrp="1"/>
          </p:cNvSpPr>
          <p:nvPr>
            <p:ph type="dt" sz="half" idx="10"/>
          </p:nvPr>
        </p:nvSpPr>
        <p:spPr/>
        <p:txBody>
          <a:bodyPr/>
          <a:lstStyle/>
          <a:p>
            <a:fld id="{B320DE66-3C04-4EA4-9A3E-BDA1C256ECA7}" type="datetimeFigureOut">
              <a:rPr lang="en-GB" smtClean="0"/>
              <a:t>06/02/2025</a:t>
            </a:fld>
            <a:endParaRPr lang="en-GB"/>
          </a:p>
        </p:txBody>
      </p:sp>
      <p:sp>
        <p:nvSpPr>
          <p:cNvPr id="8" name="Footer Placeholder 7">
            <a:extLst>
              <a:ext uri="{FF2B5EF4-FFF2-40B4-BE49-F238E27FC236}">
                <a16:creationId xmlns:a16="http://schemas.microsoft.com/office/drawing/2014/main" id="{2FE5AE7D-5CBD-40CC-AB64-A0AC342466C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E2E4306B-0E87-41E8-BCE4-80F73206A666}"/>
              </a:ext>
            </a:extLst>
          </p:cNvPr>
          <p:cNvSpPr>
            <a:spLocks noGrp="1"/>
          </p:cNvSpPr>
          <p:nvPr>
            <p:ph type="sldNum" sz="quarter" idx="12"/>
          </p:nvPr>
        </p:nvSpPr>
        <p:spPr/>
        <p:txBody>
          <a:bodyPr/>
          <a:lstStyle/>
          <a:p>
            <a:fld id="{BDE9ABDD-E8CF-4733-8366-D16FE81E16A2}" type="slidenum">
              <a:rPr lang="en-GB" smtClean="0"/>
              <a:t>‹#›</a:t>
            </a:fld>
            <a:endParaRPr lang="en-GB"/>
          </a:p>
        </p:txBody>
      </p:sp>
    </p:spTree>
    <p:extLst>
      <p:ext uri="{BB962C8B-B14F-4D97-AF65-F5344CB8AC3E}">
        <p14:creationId xmlns:p14="http://schemas.microsoft.com/office/powerpoint/2010/main" val="17529592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A8353-D95C-4ED5-910F-F7FE20E6B24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CDDAF60-5BF5-40F2-BD69-6A3BDF636AB8}"/>
              </a:ext>
            </a:extLst>
          </p:cNvPr>
          <p:cNvSpPr>
            <a:spLocks noGrp="1"/>
          </p:cNvSpPr>
          <p:nvPr>
            <p:ph type="dt" sz="half" idx="10"/>
          </p:nvPr>
        </p:nvSpPr>
        <p:spPr/>
        <p:txBody>
          <a:bodyPr/>
          <a:lstStyle/>
          <a:p>
            <a:fld id="{B320DE66-3C04-4EA4-9A3E-BDA1C256ECA7}" type="datetimeFigureOut">
              <a:rPr lang="en-GB" smtClean="0"/>
              <a:t>06/02/2025</a:t>
            </a:fld>
            <a:endParaRPr lang="en-GB"/>
          </a:p>
        </p:txBody>
      </p:sp>
      <p:sp>
        <p:nvSpPr>
          <p:cNvPr id="4" name="Footer Placeholder 3">
            <a:extLst>
              <a:ext uri="{FF2B5EF4-FFF2-40B4-BE49-F238E27FC236}">
                <a16:creationId xmlns:a16="http://schemas.microsoft.com/office/drawing/2014/main" id="{029C169E-D2C0-4F06-AAF0-4F7C6674816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473EBAB-3CCA-4D78-943E-DDB3DEEEA843}"/>
              </a:ext>
            </a:extLst>
          </p:cNvPr>
          <p:cNvSpPr>
            <a:spLocks noGrp="1"/>
          </p:cNvSpPr>
          <p:nvPr>
            <p:ph type="sldNum" sz="quarter" idx="12"/>
          </p:nvPr>
        </p:nvSpPr>
        <p:spPr/>
        <p:txBody>
          <a:bodyPr/>
          <a:lstStyle/>
          <a:p>
            <a:fld id="{BDE9ABDD-E8CF-4733-8366-D16FE81E16A2}" type="slidenum">
              <a:rPr lang="en-GB" smtClean="0"/>
              <a:t>‹#›</a:t>
            </a:fld>
            <a:endParaRPr lang="en-GB"/>
          </a:p>
        </p:txBody>
      </p:sp>
    </p:spTree>
    <p:extLst>
      <p:ext uri="{BB962C8B-B14F-4D97-AF65-F5344CB8AC3E}">
        <p14:creationId xmlns:p14="http://schemas.microsoft.com/office/powerpoint/2010/main" val="244332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BD0F63-2EC4-4D9B-80AB-A306651CCF6B}"/>
              </a:ext>
            </a:extLst>
          </p:cNvPr>
          <p:cNvSpPr>
            <a:spLocks noGrp="1"/>
          </p:cNvSpPr>
          <p:nvPr>
            <p:ph type="dt" sz="half" idx="10"/>
          </p:nvPr>
        </p:nvSpPr>
        <p:spPr/>
        <p:txBody>
          <a:bodyPr/>
          <a:lstStyle/>
          <a:p>
            <a:fld id="{B320DE66-3C04-4EA4-9A3E-BDA1C256ECA7}" type="datetimeFigureOut">
              <a:rPr lang="en-GB" smtClean="0"/>
              <a:t>06/02/2025</a:t>
            </a:fld>
            <a:endParaRPr lang="en-GB"/>
          </a:p>
        </p:txBody>
      </p:sp>
      <p:sp>
        <p:nvSpPr>
          <p:cNvPr id="3" name="Footer Placeholder 2">
            <a:extLst>
              <a:ext uri="{FF2B5EF4-FFF2-40B4-BE49-F238E27FC236}">
                <a16:creationId xmlns:a16="http://schemas.microsoft.com/office/drawing/2014/main" id="{587E49EC-B087-4166-90B8-85D2F4E140C4}"/>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A8F81338-81FF-4C00-8BEE-AEE0264BFB42}"/>
              </a:ext>
            </a:extLst>
          </p:cNvPr>
          <p:cNvSpPr>
            <a:spLocks noGrp="1"/>
          </p:cNvSpPr>
          <p:nvPr>
            <p:ph type="sldNum" sz="quarter" idx="12"/>
          </p:nvPr>
        </p:nvSpPr>
        <p:spPr/>
        <p:txBody>
          <a:bodyPr/>
          <a:lstStyle/>
          <a:p>
            <a:fld id="{BDE9ABDD-E8CF-4733-8366-D16FE81E16A2}" type="slidenum">
              <a:rPr lang="en-GB" smtClean="0"/>
              <a:t>‹#›</a:t>
            </a:fld>
            <a:endParaRPr lang="en-GB"/>
          </a:p>
        </p:txBody>
      </p:sp>
    </p:spTree>
    <p:extLst>
      <p:ext uri="{BB962C8B-B14F-4D97-AF65-F5344CB8AC3E}">
        <p14:creationId xmlns:p14="http://schemas.microsoft.com/office/powerpoint/2010/main" val="1353302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5BB27-5C27-41C6-9575-F4F7775DD8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35CAC22-3449-48FC-A9AC-B6B1D2566B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C2CC287-4FC5-4448-8F64-6397FE0DC9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7BE438-E3BB-4A73-B6AA-29ADE0AE63DC}"/>
              </a:ext>
            </a:extLst>
          </p:cNvPr>
          <p:cNvSpPr>
            <a:spLocks noGrp="1"/>
          </p:cNvSpPr>
          <p:nvPr>
            <p:ph type="dt" sz="half" idx="10"/>
          </p:nvPr>
        </p:nvSpPr>
        <p:spPr/>
        <p:txBody>
          <a:bodyPr/>
          <a:lstStyle/>
          <a:p>
            <a:fld id="{B320DE66-3C04-4EA4-9A3E-BDA1C256ECA7}" type="datetimeFigureOut">
              <a:rPr lang="en-GB" smtClean="0"/>
              <a:t>06/02/2025</a:t>
            </a:fld>
            <a:endParaRPr lang="en-GB"/>
          </a:p>
        </p:txBody>
      </p:sp>
      <p:sp>
        <p:nvSpPr>
          <p:cNvPr id="6" name="Footer Placeholder 5">
            <a:extLst>
              <a:ext uri="{FF2B5EF4-FFF2-40B4-BE49-F238E27FC236}">
                <a16:creationId xmlns:a16="http://schemas.microsoft.com/office/drawing/2014/main" id="{1ACF5447-32C8-41DD-94E7-E2880372CA8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85A604C-B747-4F8E-BD31-8D14620AA6F8}"/>
              </a:ext>
            </a:extLst>
          </p:cNvPr>
          <p:cNvSpPr>
            <a:spLocks noGrp="1"/>
          </p:cNvSpPr>
          <p:nvPr>
            <p:ph type="sldNum" sz="quarter" idx="12"/>
          </p:nvPr>
        </p:nvSpPr>
        <p:spPr/>
        <p:txBody>
          <a:bodyPr/>
          <a:lstStyle/>
          <a:p>
            <a:fld id="{BDE9ABDD-E8CF-4733-8366-D16FE81E16A2}" type="slidenum">
              <a:rPr lang="en-GB" smtClean="0"/>
              <a:t>‹#›</a:t>
            </a:fld>
            <a:endParaRPr lang="en-GB"/>
          </a:p>
        </p:txBody>
      </p:sp>
    </p:spTree>
    <p:extLst>
      <p:ext uri="{BB962C8B-B14F-4D97-AF65-F5344CB8AC3E}">
        <p14:creationId xmlns:p14="http://schemas.microsoft.com/office/powerpoint/2010/main" val="2168284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CFA73-B3F9-4297-AAF7-806F5784C4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5BA0C18-1601-42D8-8450-D09D6E4D56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6892ED0-24B4-4DFC-A5D0-1BF141E3B6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1A9026-93F0-42C6-9969-50BD56CE923A}"/>
              </a:ext>
            </a:extLst>
          </p:cNvPr>
          <p:cNvSpPr>
            <a:spLocks noGrp="1"/>
          </p:cNvSpPr>
          <p:nvPr>
            <p:ph type="dt" sz="half" idx="10"/>
          </p:nvPr>
        </p:nvSpPr>
        <p:spPr/>
        <p:txBody>
          <a:bodyPr/>
          <a:lstStyle/>
          <a:p>
            <a:fld id="{B320DE66-3C04-4EA4-9A3E-BDA1C256ECA7}" type="datetimeFigureOut">
              <a:rPr lang="en-GB" smtClean="0"/>
              <a:t>06/02/2025</a:t>
            </a:fld>
            <a:endParaRPr lang="en-GB"/>
          </a:p>
        </p:txBody>
      </p:sp>
      <p:sp>
        <p:nvSpPr>
          <p:cNvPr id="6" name="Footer Placeholder 5">
            <a:extLst>
              <a:ext uri="{FF2B5EF4-FFF2-40B4-BE49-F238E27FC236}">
                <a16:creationId xmlns:a16="http://schemas.microsoft.com/office/drawing/2014/main" id="{621CF678-2E3C-4172-B2C2-7050B39CC00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B2B8680-E961-4268-B435-C3C80818A05A}"/>
              </a:ext>
            </a:extLst>
          </p:cNvPr>
          <p:cNvSpPr>
            <a:spLocks noGrp="1"/>
          </p:cNvSpPr>
          <p:nvPr>
            <p:ph type="sldNum" sz="quarter" idx="12"/>
          </p:nvPr>
        </p:nvSpPr>
        <p:spPr/>
        <p:txBody>
          <a:bodyPr/>
          <a:lstStyle/>
          <a:p>
            <a:fld id="{BDE9ABDD-E8CF-4733-8366-D16FE81E16A2}" type="slidenum">
              <a:rPr lang="en-GB" smtClean="0"/>
              <a:t>‹#›</a:t>
            </a:fld>
            <a:endParaRPr lang="en-GB"/>
          </a:p>
        </p:txBody>
      </p:sp>
    </p:spTree>
    <p:extLst>
      <p:ext uri="{BB962C8B-B14F-4D97-AF65-F5344CB8AC3E}">
        <p14:creationId xmlns:p14="http://schemas.microsoft.com/office/powerpoint/2010/main" val="4026889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CDA01-7742-44B4-BDF3-1BCB5770533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F69442C-8C90-426F-9187-F96E1B3E18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1CED11E-B4FD-4A68-B20A-A1159A9D2B79}"/>
              </a:ext>
            </a:extLst>
          </p:cNvPr>
          <p:cNvSpPr>
            <a:spLocks noGrp="1"/>
          </p:cNvSpPr>
          <p:nvPr>
            <p:ph type="dt" sz="half" idx="10"/>
          </p:nvPr>
        </p:nvSpPr>
        <p:spPr/>
        <p:txBody>
          <a:bodyPr/>
          <a:lstStyle/>
          <a:p>
            <a:fld id="{B320DE66-3C04-4EA4-9A3E-BDA1C256ECA7}" type="datetimeFigureOut">
              <a:rPr lang="en-GB" smtClean="0"/>
              <a:t>06/02/2025</a:t>
            </a:fld>
            <a:endParaRPr lang="en-GB"/>
          </a:p>
        </p:txBody>
      </p:sp>
      <p:sp>
        <p:nvSpPr>
          <p:cNvPr id="5" name="Footer Placeholder 4">
            <a:extLst>
              <a:ext uri="{FF2B5EF4-FFF2-40B4-BE49-F238E27FC236}">
                <a16:creationId xmlns:a16="http://schemas.microsoft.com/office/drawing/2014/main" id="{70BB7461-9659-4597-B1D2-A7172675CA6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70095D0-DBBF-464A-B4CE-8DBE578EC485}"/>
              </a:ext>
            </a:extLst>
          </p:cNvPr>
          <p:cNvSpPr>
            <a:spLocks noGrp="1"/>
          </p:cNvSpPr>
          <p:nvPr>
            <p:ph type="sldNum" sz="quarter" idx="12"/>
          </p:nvPr>
        </p:nvSpPr>
        <p:spPr/>
        <p:txBody>
          <a:bodyPr/>
          <a:lstStyle/>
          <a:p>
            <a:fld id="{BDE9ABDD-E8CF-4733-8366-D16FE81E16A2}" type="slidenum">
              <a:rPr lang="en-GB" smtClean="0"/>
              <a:t>‹#›</a:t>
            </a:fld>
            <a:endParaRPr lang="en-GB"/>
          </a:p>
        </p:txBody>
      </p:sp>
    </p:spTree>
    <p:extLst>
      <p:ext uri="{BB962C8B-B14F-4D97-AF65-F5344CB8AC3E}">
        <p14:creationId xmlns:p14="http://schemas.microsoft.com/office/powerpoint/2010/main" val="2543339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EA3260-F052-4D48-B37F-A7E4F33BB7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097433B-9B78-48E3-B359-393465B346B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2AFDE67-BBED-49D7-8157-7442B649C758}"/>
              </a:ext>
            </a:extLst>
          </p:cNvPr>
          <p:cNvSpPr>
            <a:spLocks noGrp="1"/>
          </p:cNvSpPr>
          <p:nvPr>
            <p:ph type="dt" sz="half" idx="10"/>
          </p:nvPr>
        </p:nvSpPr>
        <p:spPr/>
        <p:txBody>
          <a:bodyPr/>
          <a:lstStyle/>
          <a:p>
            <a:fld id="{B320DE66-3C04-4EA4-9A3E-BDA1C256ECA7}" type="datetimeFigureOut">
              <a:rPr lang="en-GB" smtClean="0"/>
              <a:t>06/02/2025</a:t>
            </a:fld>
            <a:endParaRPr lang="en-GB"/>
          </a:p>
        </p:txBody>
      </p:sp>
      <p:sp>
        <p:nvSpPr>
          <p:cNvPr id="5" name="Footer Placeholder 4">
            <a:extLst>
              <a:ext uri="{FF2B5EF4-FFF2-40B4-BE49-F238E27FC236}">
                <a16:creationId xmlns:a16="http://schemas.microsoft.com/office/drawing/2014/main" id="{7F02BAAA-C7FD-4A17-817E-C4847DF647F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D5AF825-9B67-4A66-BC04-3187EA8F3FA8}"/>
              </a:ext>
            </a:extLst>
          </p:cNvPr>
          <p:cNvSpPr>
            <a:spLocks noGrp="1"/>
          </p:cNvSpPr>
          <p:nvPr>
            <p:ph type="sldNum" sz="quarter" idx="12"/>
          </p:nvPr>
        </p:nvSpPr>
        <p:spPr/>
        <p:txBody>
          <a:bodyPr/>
          <a:lstStyle/>
          <a:p>
            <a:fld id="{BDE9ABDD-E8CF-4733-8366-D16FE81E16A2}" type="slidenum">
              <a:rPr lang="en-GB" smtClean="0"/>
              <a:t>‹#›</a:t>
            </a:fld>
            <a:endParaRPr lang="en-GB"/>
          </a:p>
        </p:txBody>
      </p:sp>
    </p:spTree>
    <p:extLst>
      <p:ext uri="{BB962C8B-B14F-4D97-AF65-F5344CB8AC3E}">
        <p14:creationId xmlns:p14="http://schemas.microsoft.com/office/powerpoint/2010/main" val="42876474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6CFAFD-5DEF-4DEB-9D72-DB105FF0DC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446B77A-2C48-4BE7-9506-5D5B4F76DB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F98A17F-DFB3-449F-9009-6F8E6FB214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20DE66-3C04-4EA4-9A3E-BDA1C256ECA7}" type="datetimeFigureOut">
              <a:rPr lang="en-GB" smtClean="0"/>
              <a:t>06/02/2025</a:t>
            </a:fld>
            <a:endParaRPr lang="en-GB"/>
          </a:p>
        </p:txBody>
      </p:sp>
      <p:sp>
        <p:nvSpPr>
          <p:cNvPr id="5" name="Footer Placeholder 4">
            <a:extLst>
              <a:ext uri="{FF2B5EF4-FFF2-40B4-BE49-F238E27FC236}">
                <a16:creationId xmlns:a16="http://schemas.microsoft.com/office/drawing/2014/main" id="{CB6D637D-6467-4D60-8D51-9C6C3FD223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843E09ED-6F97-49C3-BED8-04640E345F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E9ABDD-E8CF-4733-8366-D16FE81E16A2}" type="slidenum">
              <a:rPr lang="en-GB" smtClean="0"/>
              <a:t>‹#›</a:t>
            </a:fld>
            <a:endParaRPr lang="en-GB"/>
          </a:p>
        </p:txBody>
      </p:sp>
    </p:spTree>
    <p:extLst>
      <p:ext uri="{BB962C8B-B14F-4D97-AF65-F5344CB8AC3E}">
        <p14:creationId xmlns:p14="http://schemas.microsoft.com/office/powerpoint/2010/main" val="7685934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CE2F5-C06F-3250-8BDD-021E3220A8D7}"/>
              </a:ext>
            </a:extLst>
          </p:cNvPr>
          <p:cNvSpPr>
            <a:spLocks noGrp="1"/>
          </p:cNvSpPr>
          <p:nvPr>
            <p:ph type="ctrTitle"/>
          </p:nvPr>
        </p:nvSpPr>
        <p:spPr/>
        <p:txBody>
          <a:bodyPr/>
          <a:lstStyle/>
          <a:p>
            <a:r>
              <a:rPr lang="en-GB" dirty="0"/>
              <a:t>UV-vis and fluorescence spectroscopy</a:t>
            </a:r>
          </a:p>
        </p:txBody>
      </p:sp>
      <p:sp>
        <p:nvSpPr>
          <p:cNvPr id="3" name="Subtitle 2">
            <a:extLst>
              <a:ext uri="{FF2B5EF4-FFF2-40B4-BE49-F238E27FC236}">
                <a16:creationId xmlns:a16="http://schemas.microsoft.com/office/drawing/2014/main" id="{1DD655F7-DCB7-273A-785B-2440674A26E3}"/>
              </a:ext>
            </a:extLst>
          </p:cNvPr>
          <p:cNvSpPr>
            <a:spLocks noGrp="1"/>
          </p:cNvSpPr>
          <p:nvPr>
            <p:ph type="subTitle" idx="1"/>
          </p:nvPr>
        </p:nvSpPr>
        <p:spPr/>
        <p:txBody>
          <a:bodyPr/>
          <a:lstStyle/>
          <a:p>
            <a:r>
              <a:rPr lang="en-GB" dirty="0"/>
              <a:t>PHAY0002 – Tutorial problems</a:t>
            </a:r>
          </a:p>
          <a:p>
            <a:r>
              <a:rPr lang="en-GB" dirty="0"/>
              <a:t>Dr Chris Waudby (</a:t>
            </a:r>
            <a:r>
              <a:rPr lang="en-GB" dirty="0" err="1"/>
              <a:t>c.waudby@ucl.ac.uk</a:t>
            </a:r>
            <a:r>
              <a:rPr lang="en-GB" dirty="0"/>
              <a:t>)</a:t>
            </a:r>
          </a:p>
        </p:txBody>
      </p:sp>
    </p:spTree>
    <p:extLst>
      <p:ext uri="{BB962C8B-B14F-4D97-AF65-F5344CB8AC3E}">
        <p14:creationId xmlns:p14="http://schemas.microsoft.com/office/powerpoint/2010/main" val="1832209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BE5D262A-2B4B-4830-8718-94083369E0F3}"/>
              </a:ext>
            </a:extLst>
          </p:cNvPr>
          <p:cNvSpPr>
            <a:spLocks noChangeArrowheads="1"/>
          </p:cNvSpPr>
          <p:nvPr/>
        </p:nvSpPr>
        <p:spPr bwMode="auto">
          <a:xfrm>
            <a:off x="0" y="0"/>
            <a:ext cx="1196109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The BP gives the specific absorbance A(1%,1cm) for riboflavin (</a:t>
            </a:r>
            <a:r>
              <a:rPr kumimoji="0" lang="en-GB" altLang="en-US" sz="20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M</a:t>
            </a:r>
            <a:r>
              <a:rPr kumimoji="0" lang="en-GB" altLang="en-US" sz="2000" b="0" i="1" u="none" strike="noStrike" cap="none" normalizeH="0" baseline="-3000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r</a:t>
            </a:r>
            <a:r>
              <a:rPr kumimoji="0" lang="en-GB" altLang="en-US"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 376.4) as 328 at 444 nm.</a:t>
            </a: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Calculate the value of the molar absorption coefficient for riboflavin at 444 nm.</a:t>
            </a:r>
          </a:p>
        </p:txBody>
      </p:sp>
      <p:sp>
        <p:nvSpPr>
          <p:cNvPr id="7" name="Rectangle 4">
            <a:extLst>
              <a:ext uri="{FF2B5EF4-FFF2-40B4-BE49-F238E27FC236}">
                <a16:creationId xmlns:a16="http://schemas.microsoft.com/office/drawing/2014/main" id="{E8BAAEBD-1B90-45D3-A889-C18857971305}"/>
              </a:ext>
            </a:extLst>
          </p:cNvPr>
          <p:cNvSpPr>
            <a:spLocks noChangeArrowheads="1"/>
          </p:cNvSpPr>
          <p:nvPr/>
        </p:nvSpPr>
        <p:spPr bwMode="auto">
          <a:xfrm>
            <a:off x="3314700" y="2622520"/>
            <a:ext cx="110799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0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a:t>
            </a:r>
            <a:endParaRPr kumimoji="0" lang="en-GB" altLang="en-US" sz="20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174018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4D32344-CAC7-456D-9770-0A9C93558D2D}"/>
              </a:ext>
            </a:extLst>
          </p:cNvPr>
          <p:cNvSpPr txBox="1"/>
          <p:nvPr/>
        </p:nvSpPr>
        <p:spPr>
          <a:xfrm>
            <a:off x="132080" y="129748"/>
            <a:ext cx="11948160" cy="2431691"/>
          </a:xfrm>
          <a:prstGeom prst="rect">
            <a:avLst/>
          </a:prstGeom>
          <a:noFill/>
        </p:spPr>
        <p:txBody>
          <a:bodyPr wrap="square">
            <a:spAutoFit/>
          </a:bodyPr>
          <a:lstStyle/>
          <a:p>
            <a:pPr>
              <a:lnSpc>
                <a:spcPct val="115000"/>
              </a:lnSpc>
              <a:spcAft>
                <a:spcPts val="1000"/>
              </a:spcAft>
            </a:pPr>
            <a:r>
              <a:rPr lang="en-GB" dirty="0">
                <a:effectLst/>
                <a:latin typeface="Arial" panose="020B0604020202020204" pitchFamily="34" charset="0"/>
                <a:ea typeface="Times New Roman" panose="02020603050405020304" pitchFamily="18" charset="0"/>
                <a:cs typeface="Arial" panose="020B0604020202020204" pitchFamily="34" charset="0"/>
              </a:rPr>
              <a:t>Use the data below to calculate the aluminium content of the water sample. The determination is based on the fact that aluminium forms a complex with quinoline-8-ol which fluoresces in a chloroform medium.</a:t>
            </a:r>
          </a:p>
          <a:p>
            <a:pPr>
              <a:lnSpc>
                <a:spcPct val="115000"/>
              </a:lnSpc>
              <a:spcAft>
                <a:spcPts val="1000"/>
              </a:spcAft>
            </a:pPr>
            <a:r>
              <a:rPr lang="en-GB" dirty="0">
                <a:effectLst/>
                <a:latin typeface="Arial" panose="020B0604020202020204" pitchFamily="34" charset="0"/>
                <a:ea typeface="Times New Roman" panose="02020603050405020304" pitchFamily="18" charset="0"/>
                <a:cs typeface="Arial" panose="020B0604020202020204" pitchFamily="34" charset="0"/>
              </a:rPr>
              <a:t>500 mL of the water sample plus 10 mL of acetate buffer and 100 mL of purified water was extracted several times with a 0.5% m/v solution of quinoline-8-ol in chloroform. The total volume of the combined extracts was 50 </a:t>
            </a:r>
            <a:r>
              <a:rPr lang="en-GB" dirty="0" err="1">
                <a:effectLst/>
                <a:latin typeface="Arial" panose="020B0604020202020204" pitchFamily="34" charset="0"/>
                <a:ea typeface="Times New Roman" panose="02020603050405020304" pitchFamily="18" charset="0"/>
                <a:cs typeface="Arial" panose="020B0604020202020204" pitchFamily="34" charset="0"/>
              </a:rPr>
              <a:t>mL.</a:t>
            </a:r>
            <a:r>
              <a:rPr lang="en-GB" dirty="0">
                <a:effectLst/>
                <a:latin typeface="Arial" panose="020B0604020202020204" pitchFamily="34" charset="0"/>
                <a:ea typeface="Times New Roman" panose="02020603050405020304" pitchFamily="18" charset="0"/>
                <a:cs typeface="Arial" panose="020B0604020202020204" pitchFamily="34" charset="0"/>
              </a:rPr>
              <a:t> The chloroform extract gave a fluorescence intensity reading of 82. When the procedure was repeated using 4.0 mL of a 0.56 µg/mL aluminium standard solution in place of the water sample a reading of 67 was obtained. In the absence of any sample a fluorescence intensity reading of 23 was obtained.</a:t>
            </a:r>
          </a:p>
        </p:txBody>
      </p:sp>
    </p:spTree>
    <p:extLst>
      <p:ext uri="{BB962C8B-B14F-4D97-AF65-F5344CB8AC3E}">
        <p14:creationId xmlns:p14="http://schemas.microsoft.com/office/powerpoint/2010/main" val="4128566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4E4C4-FF9B-08E9-738D-A54B4EEC364E}"/>
            </a:ext>
          </a:extLst>
        </p:cNvPr>
        <p:cNvGrpSpPr/>
        <p:nvPr/>
      </p:nvGrpSpPr>
      <p:grpSpPr>
        <a:xfrm>
          <a:off x="0" y="0"/>
          <a:ext cx="0" cy="0"/>
          <a:chOff x="0" y="0"/>
          <a:chExt cx="0" cy="0"/>
        </a:xfrm>
      </p:grpSpPr>
      <p:sp>
        <p:nvSpPr>
          <p:cNvPr id="6" name="Rectangle 3">
            <a:extLst>
              <a:ext uri="{FF2B5EF4-FFF2-40B4-BE49-F238E27FC236}">
                <a16:creationId xmlns:a16="http://schemas.microsoft.com/office/drawing/2014/main" id="{240782E3-54CD-9344-C142-F1640FEAA84A}"/>
              </a:ext>
            </a:extLst>
          </p:cNvPr>
          <p:cNvSpPr>
            <a:spLocks noChangeArrowheads="1"/>
          </p:cNvSpPr>
          <p:nvPr/>
        </p:nvSpPr>
        <p:spPr bwMode="auto">
          <a:xfrm>
            <a:off x="115454" y="67975"/>
            <a:ext cx="11961091"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A batch of co-codamol tablets is being analysed. Three tablets are crushed and dissolved in 0.1 M HCl and made up to 250 mL in a volumetric flask. A 1 mL portion is diluted to 250 mL and the absorbance measured in a 1 cm cell. If the absorbance at 248 nm is 0.8477 and at 275 nm is 0.2267, calculate the content of paracetamol and codeine in the original tablet. The label claim is 500 mg paracetamol and 30 mg codeine phosphate per tablet. Verify if the amount of paracetamol and codeine are within 5% of this.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The A(1%, 1cm) of paracetamol is 360.7 at 248 nm and 87.0 at 275 nm. The A(1%, 1cm) of codeine is 22.6 at 248 nm and 115.3 at 275 nm.</a:t>
            </a:r>
          </a:p>
        </p:txBody>
      </p:sp>
      <p:sp>
        <p:nvSpPr>
          <p:cNvPr id="7" name="Rectangle 4">
            <a:extLst>
              <a:ext uri="{FF2B5EF4-FFF2-40B4-BE49-F238E27FC236}">
                <a16:creationId xmlns:a16="http://schemas.microsoft.com/office/drawing/2014/main" id="{17AF4E2E-A3ED-ED30-55FE-0534E99918E6}"/>
              </a:ext>
            </a:extLst>
          </p:cNvPr>
          <p:cNvSpPr>
            <a:spLocks noChangeArrowheads="1"/>
          </p:cNvSpPr>
          <p:nvPr/>
        </p:nvSpPr>
        <p:spPr bwMode="auto">
          <a:xfrm>
            <a:off x="3314700" y="2622520"/>
            <a:ext cx="110799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0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a:t>
            </a:r>
            <a:endParaRPr kumimoji="0" lang="en-GB" altLang="en-US" sz="20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0753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0E29B-848E-30D4-859B-50F433D971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CF20AD-323E-41A6-3B81-22AE015612BD}"/>
              </a:ext>
            </a:extLst>
          </p:cNvPr>
          <p:cNvSpPr>
            <a:spLocks noGrp="1"/>
          </p:cNvSpPr>
          <p:nvPr>
            <p:ph type="ctrTitle"/>
          </p:nvPr>
        </p:nvSpPr>
        <p:spPr/>
        <p:txBody>
          <a:bodyPr/>
          <a:lstStyle/>
          <a:p>
            <a:r>
              <a:rPr lang="en-GB" dirty="0"/>
              <a:t>Separation and chromatography</a:t>
            </a:r>
          </a:p>
        </p:txBody>
      </p:sp>
      <p:sp>
        <p:nvSpPr>
          <p:cNvPr id="3" name="Subtitle 2">
            <a:extLst>
              <a:ext uri="{FF2B5EF4-FFF2-40B4-BE49-F238E27FC236}">
                <a16:creationId xmlns:a16="http://schemas.microsoft.com/office/drawing/2014/main" id="{C46764CF-9DC5-FACC-9DC8-1086A9631D90}"/>
              </a:ext>
            </a:extLst>
          </p:cNvPr>
          <p:cNvSpPr>
            <a:spLocks noGrp="1"/>
          </p:cNvSpPr>
          <p:nvPr>
            <p:ph type="subTitle" idx="1"/>
          </p:nvPr>
        </p:nvSpPr>
        <p:spPr/>
        <p:txBody>
          <a:bodyPr/>
          <a:lstStyle/>
          <a:p>
            <a:r>
              <a:rPr lang="en-GB" dirty="0"/>
              <a:t>PHAY0002 – Tutorial problems</a:t>
            </a:r>
          </a:p>
          <a:p>
            <a:r>
              <a:rPr lang="en-GB" dirty="0"/>
              <a:t>Prof Zoe Waller (</a:t>
            </a:r>
            <a:r>
              <a:rPr lang="en-GB" dirty="0" err="1"/>
              <a:t>z.waller@ucl.ac.uk</a:t>
            </a:r>
            <a:r>
              <a:rPr lang="en-GB" dirty="0"/>
              <a:t>)</a:t>
            </a:r>
          </a:p>
        </p:txBody>
      </p:sp>
    </p:spTree>
    <p:extLst>
      <p:ext uri="{BB962C8B-B14F-4D97-AF65-F5344CB8AC3E}">
        <p14:creationId xmlns:p14="http://schemas.microsoft.com/office/powerpoint/2010/main" val="17903468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80B30412-099F-49AE-BD3A-220B462E3942}"/>
              </a:ext>
            </a:extLst>
          </p:cNvPr>
          <p:cNvSpPr>
            <a:spLocks noChangeArrowheads="1"/>
          </p:cNvSpPr>
          <p:nvPr/>
        </p:nvSpPr>
        <p:spPr bwMode="auto">
          <a:xfrm>
            <a:off x="376238" y="156235"/>
            <a:ext cx="11439526"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GB" altLang="en-US" sz="20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You have finished a reaction and worked it up. You performed normal phase column chromatography to separate the components. Below is a normal phase TLC of your fractions:</a:t>
            </a:r>
            <a:endParaRPr kumimoji="0" lang="en-GB"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graphicFrame>
        <p:nvGraphicFramePr>
          <p:cNvPr id="11" name="Object 10">
            <a:extLst>
              <a:ext uri="{FF2B5EF4-FFF2-40B4-BE49-F238E27FC236}">
                <a16:creationId xmlns:a16="http://schemas.microsoft.com/office/drawing/2014/main" id="{86361AD8-CE80-4856-A9FF-420271852922}"/>
              </a:ext>
            </a:extLst>
          </p:cNvPr>
          <p:cNvGraphicFramePr>
            <a:graphicFrameLocks noChangeAspect="1"/>
          </p:cNvGraphicFramePr>
          <p:nvPr>
            <p:extLst>
              <p:ext uri="{D42A27DB-BD31-4B8C-83A1-F6EECF244321}">
                <p14:modId xmlns:p14="http://schemas.microsoft.com/office/powerpoint/2010/main" val="543500287"/>
              </p:ext>
            </p:extLst>
          </p:nvPr>
        </p:nvGraphicFramePr>
        <p:xfrm>
          <a:off x="376237" y="1171898"/>
          <a:ext cx="5174853" cy="2214240"/>
        </p:xfrm>
        <a:graphic>
          <a:graphicData uri="http://schemas.openxmlformats.org/presentationml/2006/ole">
            <mc:AlternateContent xmlns:mc="http://schemas.openxmlformats.org/markup-compatibility/2006">
              <mc:Choice xmlns:v="urn:schemas-microsoft-com:vml" Requires="v">
                <p:oleObj name="CS ChemDraw Drawing" r:id="rId2" imgW="4710262" imgH="2014278" progId="ChemDraw.Document.6.0">
                  <p:embed/>
                </p:oleObj>
              </mc:Choice>
              <mc:Fallback>
                <p:oleObj name="CS ChemDraw Drawing" r:id="rId2" imgW="4710262" imgH="2014278" progId="ChemDraw.Document.6.0">
                  <p:embed/>
                  <p:pic>
                    <p:nvPicPr>
                      <p:cNvPr id="11" name="Object 10">
                        <a:extLst>
                          <a:ext uri="{FF2B5EF4-FFF2-40B4-BE49-F238E27FC236}">
                            <a16:creationId xmlns:a16="http://schemas.microsoft.com/office/drawing/2014/main" id="{86361AD8-CE80-4856-A9FF-4202718529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6237" y="1171898"/>
                        <a:ext cx="5174853" cy="2214240"/>
                      </a:xfrm>
                      <a:prstGeom prst="rect">
                        <a:avLst/>
                      </a:prstGeom>
                      <a:noFill/>
                    </p:spPr>
                  </p:pic>
                </p:oleObj>
              </mc:Fallback>
            </mc:AlternateContent>
          </a:graphicData>
        </a:graphic>
      </p:graphicFrame>
      <p:sp>
        <p:nvSpPr>
          <p:cNvPr id="12" name="Rectangle 9">
            <a:extLst>
              <a:ext uri="{FF2B5EF4-FFF2-40B4-BE49-F238E27FC236}">
                <a16:creationId xmlns:a16="http://schemas.microsoft.com/office/drawing/2014/main" id="{8B2FD459-726E-445E-9E79-742AC0DDD5F2}"/>
              </a:ext>
            </a:extLst>
          </p:cNvPr>
          <p:cNvSpPr>
            <a:spLocks noChangeArrowheads="1"/>
          </p:cNvSpPr>
          <p:nvPr/>
        </p:nvSpPr>
        <p:spPr bwMode="auto">
          <a:xfrm>
            <a:off x="312627" y="3932706"/>
            <a:ext cx="10866906"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pP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Explain what is meant by the “crude” spot?</a:t>
            </a:r>
            <a:endParaRPr kumimoji="0" lang="en-GB" altLang="en-US" sz="20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How many different components are in the reaction mixture?</a:t>
            </a:r>
            <a:r>
              <a:rPr lang="en-GB" altLang="en-US" sz="2000" dirty="0">
                <a:cs typeface="Arial" panose="020B0604020202020204" pitchFamily="34" charset="0"/>
              </a:rPr>
              <a:t> </a:t>
            </a:r>
            <a:r>
              <a:rPr kumimoji="0" lang="en-GB" altLang="en-US" sz="2000" b="0" i="0" u="none" strike="noStrike" cap="none" normalizeH="0" baseline="0" dirty="0">
                <a:ln>
                  <a:noFill/>
                </a:ln>
                <a:solidFill>
                  <a:schemeClr val="bg1"/>
                </a:solidFill>
                <a:effectLst/>
                <a:ea typeface="Calibri" panose="020F0502020204030204" pitchFamily="34" charset="0"/>
                <a:cs typeface="Arial" panose="020B0604020202020204" pitchFamily="34" charset="0"/>
              </a:rPr>
              <a:t>3 which have been visualised</a:t>
            </a:r>
            <a:endParaRPr kumimoji="0" lang="en-GB" altLang="en-US" sz="2000" b="0" i="0" u="none" strike="noStrike" cap="none" normalizeH="0" baseline="0" dirty="0">
              <a:ln>
                <a:noFill/>
              </a:ln>
              <a:solidFill>
                <a:schemeClr val="bg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Which fractions are pure?</a:t>
            </a:r>
            <a:r>
              <a:rPr lang="en-GB" altLang="en-US" sz="2000" dirty="0">
                <a:cs typeface="Arial" panose="020B0604020202020204" pitchFamily="34" charset="0"/>
              </a:rPr>
              <a:t> </a:t>
            </a:r>
            <a:r>
              <a:rPr kumimoji="0" lang="en-GB" altLang="en-US" sz="2000" b="0" i="0" u="none" strike="noStrike" cap="none" normalizeH="0" baseline="0" dirty="0">
                <a:ln>
                  <a:noFill/>
                </a:ln>
                <a:solidFill>
                  <a:schemeClr val="bg1"/>
                </a:solidFill>
                <a:effectLst/>
                <a:ea typeface="Calibri" panose="020F0502020204030204" pitchFamily="34" charset="0"/>
                <a:cs typeface="Arial" panose="020B0604020202020204" pitchFamily="34" charset="0"/>
              </a:rPr>
              <a:t>2, 3, 5, 6, 8-13</a:t>
            </a:r>
            <a:endParaRPr kumimoji="0" lang="en-GB" altLang="en-US" sz="2000" b="0" i="0" u="none" strike="noStrike" cap="none" normalizeH="0" baseline="0" dirty="0">
              <a:ln>
                <a:noFill/>
              </a:ln>
              <a:solidFill>
                <a:schemeClr val="bg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Which fractions are not pure?</a:t>
            </a:r>
            <a:r>
              <a:rPr lang="en-GB" altLang="en-US" sz="2000" dirty="0">
                <a:cs typeface="Arial" panose="020B0604020202020204" pitchFamily="34" charset="0"/>
              </a:rPr>
              <a:t> </a:t>
            </a:r>
            <a:r>
              <a:rPr kumimoji="0" lang="en-GB" altLang="en-US" sz="2000" b="0" i="0" u="none" strike="noStrike" cap="none" normalizeH="0" baseline="0" dirty="0">
                <a:ln>
                  <a:noFill/>
                </a:ln>
                <a:solidFill>
                  <a:schemeClr val="bg1"/>
                </a:solidFill>
                <a:effectLst/>
                <a:ea typeface="Calibri" panose="020F0502020204030204" pitchFamily="34" charset="0"/>
                <a:cs typeface="Arial" panose="020B0604020202020204" pitchFamily="34" charset="0"/>
              </a:rPr>
              <a:t>7</a:t>
            </a:r>
            <a:endParaRPr kumimoji="0" lang="en-GB" altLang="en-US" sz="2000" b="0" i="0" u="none" strike="noStrike" cap="none" normalizeH="0" baseline="0" dirty="0">
              <a:ln>
                <a:noFill/>
              </a:ln>
              <a:solidFill>
                <a:schemeClr val="bg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Which fractions do not contain any compound?</a:t>
            </a:r>
            <a:r>
              <a:rPr lang="en-GB" altLang="en-US" sz="2000" dirty="0">
                <a:cs typeface="Arial" panose="020B0604020202020204" pitchFamily="34" charset="0"/>
              </a:rPr>
              <a:t> </a:t>
            </a:r>
            <a:r>
              <a:rPr kumimoji="0" lang="en-GB" altLang="en-US" sz="2000" b="0" i="0" u="none" strike="noStrike" cap="none" normalizeH="0" baseline="0" dirty="0">
                <a:ln>
                  <a:noFill/>
                </a:ln>
                <a:solidFill>
                  <a:schemeClr val="bg1"/>
                </a:solidFill>
                <a:effectLst/>
                <a:ea typeface="Calibri" panose="020F0502020204030204" pitchFamily="34" charset="0"/>
                <a:cs typeface="Arial" panose="020B0604020202020204" pitchFamily="34" charset="0"/>
              </a:rPr>
              <a:t>1, 4, 14</a:t>
            </a:r>
            <a:endParaRPr kumimoji="0" lang="en-GB" altLang="en-US" sz="2000" b="0" i="0" u="none" strike="noStrike" cap="none" normalizeH="0" baseline="0" dirty="0">
              <a:ln>
                <a:noFill/>
              </a:ln>
              <a:solidFill>
                <a:schemeClr val="bg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Which fractions contain the most non-polar compound?</a:t>
            </a:r>
            <a:r>
              <a:rPr lang="en-GB" altLang="en-US" sz="2000" dirty="0">
                <a:cs typeface="Arial" panose="020B0604020202020204" pitchFamily="34" charset="0"/>
              </a:rPr>
              <a:t> </a:t>
            </a:r>
            <a:r>
              <a:rPr kumimoji="0" lang="en-GB" altLang="en-US" sz="2000" b="0" i="0" u="none" strike="noStrike" cap="none" normalizeH="0" baseline="0" dirty="0">
                <a:ln>
                  <a:noFill/>
                </a:ln>
                <a:solidFill>
                  <a:schemeClr val="bg1"/>
                </a:solidFill>
                <a:effectLst/>
                <a:ea typeface="Calibri" panose="020F0502020204030204" pitchFamily="34" charset="0"/>
                <a:cs typeface="Arial" panose="020B0604020202020204" pitchFamily="34" charset="0"/>
              </a:rPr>
              <a:t>2, 3</a:t>
            </a:r>
            <a:endParaRPr kumimoji="0" lang="en-GB" altLang="en-US" sz="2000" b="0" i="0" u="none" strike="noStrike" cap="none" normalizeH="0" baseline="0" dirty="0">
              <a:ln>
                <a:noFill/>
              </a:ln>
              <a:solidFill>
                <a:schemeClr val="bg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Which fractions contain the most polar compound?</a:t>
            </a:r>
            <a:r>
              <a:rPr lang="en-GB" altLang="en-US" sz="2000" dirty="0">
                <a:cs typeface="Arial" panose="020B0604020202020204" pitchFamily="34" charset="0"/>
              </a:rPr>
              <a:t> </a:t>
            </a:r>
            <a:r>
              <a:rPr kumimoji="0" lang="en-GB" altLang="en-US" sz="2000" b="0" i="0" u="none" strike="noStrike" cap="none" normalizeH="0" baseline="0" dirty="0">
                <a:ln>
                  <a:noFill/>
                </a:ln>
                <a:solidFill>
                  <a:schemeClr val="bg1"/>
                </a:solidFill>
                <a:effectLst/>
                <a:ea typeface="Calibri" panose="020F0502020204030204" pitchFamily="34" charset="0"/>
                <a:cs typeface="Arial" panose="020B0604020202020204" pitchFamily="34" charset="0"/>
              </a:rPr>
              <a:t>7-13</a:t>
            </a:r>
            <a:endParaRPr kumimoji="0" lang="en-GB" altLang="en-US" sz="2000" b="0" i="0" u="none" strike="noStrike" cap="none" normalizeH="0" baseline="0" dirty="0">
              <a:ln>
                <a:noFill/>
              </a:ln>
              <a:solidFill>
                <a:schemeClr val="bg1"/>
              </a:solidFill>
              <a:effectLst/>
              <a:cs typeface="Arial" panose="020B0604020202020204" pitchFamily="34" charset="0"/>
            </a:endParaRPr>
          </a:p>
        </p:txBody>
      </p:sp>
    </p:spTree>
    <p:extLst>
      <p:ext uri="{BB962C8B-B14F-4D97-AF65-F5344CB8AC3E}">
        <p14:creationId xmlns:p14="http://schemas.microsoft.com/office/powerpoint/2010/main" val="3553493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2FA4BF-4C7C-41AD-BBC9-F0B484C8219B}"/>
              </a:ext>
            </a:extLst>
          </p:cNvPr>
          <p:cNvSpPr/>
          <p:nvPr/>
        </p:nvSpPr>
        <p:spPr>
          <a:xfrm>
            <a:off x="365760" y="696233"/>
            <a:ext cx="11402170" cy="872739"/>
          </a:xfrm>
          <a:prstGeom prst="rect">
            <a:avLst/>
          </a:prstGeom>
        </p:spPr>
        <p:txBody>
          <a:bodyPr wrap="square">
            <a:spAutoFit/>
          </a:bodyPr>
          <a:lstStyle/>
          <a:p>
            <a:pPr lvl="0">
              <a:lnSpc>
                <a:spcPct val="115000"/>
              </a:lnSpc>
              <a:spcAft>
                <a:spcPts val="800"/>
              </a:spcAft>
            </a:pPr>
            <a:r>
              <a:rPr lang="en-GB" sz="2000" dirty="0">
                <a:latin typeface="Arial" panose="020B0604020202020204" pitchFamily="34" charset="0"/>
                <a:ea typeface="Calibri" panose="020F0502020204030204" pitchFamily="34" charset="0"/>
                <a:cs typeface="Arial" panose="020B0604020202020204" pitchFamily="34" charset="0"/>
              </a:rPr>
              <a:t>Compare and contrast column chromatography and SPE.</a:t>
            </a:r>
          </a:p>
          <a:p>
            <a:pPr>
              <a:lnSpc>
                <a:spcPct val="115000"/>
              </a:lnSpc>
              <a:spcAft>
                <a:spcPts val="800"/>
              </a:spcAft>
            </a:pPr>
            <a:r>
              <a:rPr lang="en-GB" sz="2000" dirty="0">
                <a:latin typeface="Arial" panose="020B0604020202020204" pitchFamily="34" charset="0"/>
                <a:ea typeface="Calibri" panose="020F0502020204030204" pitchFamily="34" charset="0"/>
                <a:cs typeface="Arial" panose="020B0604020202020204" pitchFamily="34" charset="0"/>
              </a:rPr>
              <a:t> </a:t>
            </a:r>
          </a:p>
        </p:txBody>
      </p:sp>
    </p:spTree>
    <p:extLst>
      <p:ext uri="{BB962C8B-B14F-4D97-AF65-F5344CB8AC3E}">
        <p14:creationId xmlns:p14="http://schemas.microsoft.com/office/powerpoint/2010/main" val="474985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35319AA2-C36B-4579-8229-79B87974D564}"/>
              </a:ext>
            </a:extLst>
          </p:cNvPr>
          <p:cNvSpPr>
            <a:spLocks noChangeArrowheads="1"/>
          </p:cNvSpPr>
          <p:nvPr/>
        </p:nvSpPr>
        <p:spPr bwMode="auto">
          <a:xfrm>
            <a:off x="400051" y="363212"/>
            <a:ext cx="1154430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pP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Given below are the R</a:t>
            </a:r>
            <a:r>
              <a:rPr kumimoji="0" lang="en-GB" altLang="en-US" sz="2000" b="0" i="0" u="none" strike="noStrike" cap="none" normalizeH="0" baseline="-30000" dirty="0">
                <a:ln>
                  <a:noFill/>
                </a:ln>
                <a:solidFill>
                  <a:schemeClr val="tx1"/>
                </a:solidFill>
                <a:effectLst/>
                <a:ea typeface="Calibri" panose="020F0502020204030204" pitchFamily="34" charset="0"/>
                <a:cs typeface="Arial" panose="020B0604020202020204" pitchFamily="34" charset="0"/>
              </a:rPr>
              <a:t>f</a:t>
            </a: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 values for a mixture of two compounds (</a:t>
            </a:r>
            <a:r>
              <a:rPr kumimoji="0" lang="en-GB" altLang="en-US" sz="2000" b="1" i="0" u="none" strike="noStrike" cap="none" normalizeH="0" baseline="0" dirty="0">
                <a:ln>
                  <a:noFill/>
                </a:ln>
                <a:solidFill>
                  <a:schemeClr val="tx1"/>
                </a:solidFill>
                <a:effectLst/>
                <a:ea typeface="Calibri" panose="020F0502020204030204" pitchFamily="34" charset="0"/>
                <a:cs typeface="Arial" panose="020B0604020202020204" pitchFamily="34" charset="0"/>
              </a:rPr>
              <a:t>A</a:t>
            </a: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 and </a:t>
            </a:r>
            <a:r>
              <a:rPr kumimoji="0" lang="en-GB" altLang="en-US" sz="2000" b="1" i="0" u="none" strike="noStrike" cap="none" normalizeH="0" baseline="0" dirty="0">
                <a:ln>
                  <a:noFill/>
                </a:ln>
                <a:solidFill>
                  <a:schemeClr val="tx1"/>
                </a:solidFill>
                <a:effectLst/>
                <a:ea typeface="Calibri" panose="020F0502020204030204" pitchFamily="34" charset="0"/>
                <a:cs typeface="Arial" panose="020B0604020202020204" pitchFamily="34" charset="0"/>
              </a:rPr>
              <a:t>B</a:t>
            </a: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 analysed by TLC under three different </a:t>
            </a:r>
            <a:r>
              <a:rPr kumimoji="0" lang="en-GB" altLang="en-US" sz="2000" b="0" i="0" u="none" strike="noStrike" cap="none" normalizeH="0" baseline="0" dirty="0">
                <a:ln>
                  <a:noFill/>
                </a:ln>
                <a:effectLst/>
                <a:ea typeface="Calibri" panose="020F0502020204030204" pitchFamily="34" charset="0"/>
                <a:cs typeface="Arial" panose="020B0604020202020204" pitchFamily="34" charset="0"/>
              </a:rPr>
              <a:t>elution conditions. </a:t>
            </a:r>
          </a:p>
          <a:p>
            <a:pPr marL="0" marR="0" lvl="0" indent="0" algn="l" defTabSz="914400" rtl="0" eaLnBrk="0" fontAlgn="base" latinLnBrk="0" hangingPunct="0">
              <a:lnSpc>
                <a:spcPct val="100000"/>
              </a:lnSpc>
              <a:spcBef>
                <a:spcPct val="0"/>
              </a:spcBef>
              <a:spcAft>
                <a:spcPct val="0"/>
              </a:spcAft>
              <a:buClrTx/>
              <a:buSzTx/>
              <a:tabLst/>
            </a:pPr>
            <a:endParaRPr kumimoji="0" lang="en-GB" altLang="en-US" sz="2000" b="0" i="0" u="none" strike="noStrike" cap="none" normalizeH="0" baseline="0" dirty="0">
              <a:ln>
                <a:noFill/>
              </a:ln>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GB" altLang="en-US" sz="2000" b="0" i="0" u="none" strike="noStrike" cap="none" normalizeH="0" baseline="0" dirty="0">
              <a:ln>
                <a:noFill/>
              </a:ln>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GB" altLang="en-US" sz="2000" dirty="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GB" altLang="en-US" sz="2000" b="0" i="0" u="none" strike="noStrike" cap="none" normalizeH="0" baseline="0" dirty="0">
              <a:ln>
                <a:noFill/>
              </a:ln>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GB" altLang="en-US" sz="2000" dirty="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GB" altLang="en-US" sz="2000" b="0" i="0" u="none" strike="noStrike" cap="none" normalizeH="0" baseline="0" dirty="0">
              <a:ln>
                <a:noFill/>
              </a:ln>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GB" altLang="en-US" sz="2000" b="0" i="0" u="none" strike="noStrike" cap="none" normalizeH="0" baseline="0" dirty="0">
                <a:ln>
                  <a:noFill/>
                </a:ln>
                <a:effectLst/>
                <a:ea typeface="Calibri" panose="020F0502020204030204" pitchFamily="34" charset="0"/>
                <a:cs typeface="Arial" panose="020B0604020202020204" pitchFamily="34" charset="0"/>
              </a:rPr>
              <a:t>What are column volumes </a:t>
            </a: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(CV) used to measure. What is the relationship between R</a:t>
            </a:r>
            <a:r>
              <a:rPr kumimoji="0" lang="en-GB" altLang="en-US" sz="2000" b="0" i="0" u="none" strike="noStrike" cap="none" normalizeH="0" baseline="-30000" dirty="0">
                <a:ln>
                  <a:noFill/>
                </a:ln>
                <a:solidFill>
                  <a:schemeClr val="tx1"/>
                </a:solidFill>
                <a:effectLst/>
                <a:ea typeface="Calibri" panose="020F0502020204030204" pitchFamily="34" charset="0"/>
                <a:cs typeface="Arial" panose="020B0604020202020204" pitchFamily="34" charset="0"/>
              </a:rPr>
              <a:t>f</a:t>
            </a: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 and CV?</a:t>
            </a: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000" b="0" i="0" u="none" strike="noStrike" cap="none" normalizeH="0" baseline="0" dirty="0">
                <a:ln>
                  <a:noFill/>
                </a:ln>
                <a:solidFill>
                  <a:schemeClr val="bg1"/>
                </a:solidFill>
                <a:effectLst/>
                <a:ea typeface="Calibri" panose="020F0502020204030204" pitchFamily="34" charset="0"/>
                <a:cs typeface="Arial" panose="020B0604020202020204" pitchFamily="34" charset="0"/>
              </a:rPr>
              <a:t>By column chromatography, compound retention is measured in column volumes (CV) </a:t>
            </a:r>
          </a:p>
          <a:p>
            <a:pPr marL="0" marR="0" lvl="0" indent="0" algn="l" defTabSz="914400" rtl="0" eaLnBrk="0" fontAlgn="base" latinLnBrk="0" hangingPunct="0">
              <a:lnSpc>
                <a:spcPct val="100000"/>
              </a:lnSpc>
              <a:spcBef>
                <a:spcPct val="0"/>
              </a:spcBef>
              <a:spcAft>
                <a:spcPct val="0"/>
              </a:spcAft>
              <a:buClrTx/>
              <a:buSzTx/>
              <a:buFontTx/>
              <a:buNone/>
              <a:tabLst/>
            </a:pPr>
            <a:r>
              <a:rPr lang="en-GB" altLang="en-US" sz="2000" dirty="0">
                <a:solidFill>
                  <a:schemeClr val="bg1"/>
                </a:solidFill>
                <a:ea typeface="Calibri" panose="020F0502020204030204" pitchFamily="34" charset="0"/>
                <a:cs typeface="Arial" panose="020B0604020202020204" pitchFamily="34" charset="0"/>
              </a:rPr>
              <a:t>This is t</a:t>
            </a:r>
            <a:r>
              <a:rPr kumimoji="0" lang="en-GB" altLang="en-US" sz="2000" b="0" i="0" u="none" strike="noStrike" cap="none" normalizeH="0" baseline="0" dirty="0">
                <a:ln>
                  <a:noFill/>
                </a:ln>
                <a:solidFill>
                  <a:schemeClr val="bg1"/>
                </a:solidFill>
                <a:effectLst/>
                <a:ea typeface="Calibri" panose="020F0502020204030204" pitchFamily="34" charset="0"/>
                <a:cs typeface="Arial" panose="020B0604020202020204" pitchFamily="34" charset="0"/>
              </a:rPr>
              <a:t>he number of column volumes of solvent required to elute the compound off the stationary phase</a:t>
            </a:r>
            <a:endParaRPr kumimoji="0" lang="en-GB" altLang="en-US" sz="2000" b="0" i="0" u="none" strike="noStrike" cap="none" normalizeH="0" baseline="0" dirty="0">
              <a:ln>
                <a:noFill/>
              </a:ln>
              <a:solidFill>
                <a:schemeClr val="bg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000" b="0" i="0" u="none" strike="noStrike" cap="none" normalizeH="0" baseline="0" dirty="0">
                <a:ln>
                  <a:noFill/>
                </a:ln>
                <a:solidFill>
                  <a:schemeClr val="bg1"/>
                </a:solidFill>
                <a:effectLst/>
                <a:ea typeface="Calibri" panose="020F0502020204030204" pitchFamily="34" charset="0"/>
                <a:cs typeface="Arial" panose="020B0604020202020204" pitchFamily="34" charset="0"/>
              </a:rPr>
              <a:t>Elution methods developed by TLC are usually transferable to column chromatography. </a:t>
            </a: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000" b="0" i="0" u="none" strike="noStrike" cap="none" normalizeH="0" baseline="0" dirty="0">
                <a:ln>
                  <a:noFill/>
                </a:ln>
                <a:solidFill>
                  <a:schemeClr val="bg1"/>
                </a:solidFill>
                <a:effectLst/>
                <a:ea typeface="Calibri" panose="020F0502020204030204" pitchFamily="34" charset="0"/>
                <a:cs typeface="Arial" panose="020B0604020202020204" pitchFamily="34" charset="0"/>
              </a:rPr>
              <a:t>The relationship between Rf and CV is reciprocal CV = 1 / Rf</a:t>
            </a:r>
            <a:endParaRPr kumimoji="0" lang="en-GB" altLang="en-US" sz="2000" b="0" i="0" u="none" strike="noStrike" cap="none" normalizeH="0" baseline="0" dirty="0">
              <a:ln>
                <a:noFill/>
              </a:ln>
              <a:solidFill>
                <a:schemeClr val="bg1"/>
              </a:solidFill>
              <a:effectLst/>
              <a:cs typeface="Arial" panose="020B0604020202020204" pitchFamily="34" charset="0"/>
            </a:endParaRPr>
          </a:p>
        </p:txBody>
      </p:sp>
      <p:graphicFrame>
        <p:nvGraphicFramePr>
          <p:cNvPr id="4" name="Content Placeholder 3">
            <a:extLst>
              <a:ext uri="{FF2B5EF4-FFF2-40B4-BE49-F238E27FC236}">
                <a16:creationId xmlns:a16="http://schemas.microsoft.com/office/drawing/2014/main" id="{66647F19-515B-42B7-A6B7-C68EB6632E29}"/>
              </a:ext>
            </a:extLst>
          </p:cNvPr>
          <p:cNvGraphicFramePr>
            <a:graphicFrameLocks noGrp="1"/>
          </p:cNvGraphicFramePr>
          <p:nvPr>
            <p:ph idx="1"/>
            <p:extLst>
              <p:ext uri="{D42A27DB-BD31-4B8C-83A1-F6EECF244321}">
                <p14:modId xmlns:p14="http://schemas.microsoft.com/office/powerpoint/2010/main" val="2624923550"/>
              </p:ext>
            </p:extLst>
          </p:nvPr>
        </p:nvGraphicFramePr>
        <p:xfrm>
          <a:off x="3327471" y="1394841"/>
          <a:ext cx="4715962" cy="1319784"/>
        </p:xfrm>
        <a:graphic>
          <a:graphicData uri="http://schemas.openxmlformats.org/drawingml/2006/table">
            <a:tbl>
              <a:tblPr firstRow="1" firstCol="1" bandRow="1">
                <a:tableStyleId>{5940675A-B579-460E-94D1-54222C63F5DA}</a:tableStyleId>
              </a:tblPr>
              <a:tblGrid>
                <a:gridCol w="853948">
                  <a:extLst>
                    <a:ext uri="{9D8B030D-6E8A-4147-A177-3AD203B41FA5}">
                      <a16:colId xmlns:a16="http://schemas.microsoft.com/office/drawing/2014/main" val="2661130318"/>
                    </a:ext>
                  </a:extLst>
                </a:gridCol>
                <a:gridCol w="702310">
                  <a:extLst>
                    <a:ext uri="{9D8B030D-6E8A-4147-A177-3AD203B41FA5}">
                      <a16:colId xmlns:a16="http://schemas.microsoft.com/office/drawing/2014/main" val="3130737945"/>
                    </a:ext>
                  </a:extLst>
                </a:gridCol>
                <a:gridCol w="750126">
                  <a:extLst>
                    <a:ext uri="{9D8B030D-6E8A-4147-A177-3AD203B41FA5}">
                      <a16:colId xmlns:a16="http://schemas.microsoft.com/office/drawing/2014/main" val="1943185088"/>
                    </a:ext>
                  </a:extLst>
                </a:gridCol>
                <a:gridCol w="2409578">
                  <a:extLst>
                    <a:ext uri="{9D8B030D-6E8A-4147-A177-3AD203B41FA5}">
                      <a16:colId xmlns:a16="http://schemas.microsoft.com/office/drawing/2014/main" val="1476032031"/>
                    </a:ext>
                  </a:extLst>
                </a:gridCol>
              </a:tblGrid>
              <a:tr h="0">
                <a:tc rowSpan="2">
                  <a:txBody>
                    <a:bodyPr/>
                    <a:lstStyle/>
                    <a:p>
                      <a:pPr>
                        <a:lnSpc>
                          <a:spcPct val="115000"/>
                        </a:lnSpc>
                        <a:spcAft>
                          <a:spcPts val="800"/>
                        </a:spcAft>
                      </a:pPr>
                      <a:r>
                        <a:rPr lang="en-GB" sz="2000">
                          <a:effectLst/>
                        </a:rPr>
                        <a:t>Eluent</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3">
                  <a:txBody>
                    <a:bodyPr/>
                    <a:lstStyle/>
                    <a:p>
                      <a:pPr>
                        <a:lnSpc>
                          <a:spcPct val="115000"/>
                        </a:lnSpc>
                        <a:spcAft>
                          <a:spcPts val="800"/>
                        </a:spcAft>
                      </a:pPr>
                      <a:r>
                        <a:rPr lang="en-GB" sz="2000" dirty="0">
                          <a:effectLst/>
                        </a:rPr>
                        <a:t>R</a:t>
                      </a:r>
                      <a:r>
                        <a:rPr lang="en-GB" sz="2000" baseline="-25000" dirty="0">
                          <a:effectLst/>
                        </a:rPr>
                        <a:t>f</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946640698"/>
                  </a:ext>
                </a:extLst>
              </a:tr>
              <a:tr h="0">
                <a:tc vMerge="1">
                  <a:txBody>
                    <a:bodyPr/>
                    <a:lstStyle/>
                    <a:p>
                      <a:endParaRPr lang="en-GB"/>
                    </a:p>
                  </a:txBody>
                  <a:tcPr/>
                </a:tc>
                <a:tc>
                  <a:txBody>
                    <a:bodyPr/>
                    <a:lstStyle/>
                    <a:p>
                      <a:pPr>
                        <a:lnSpc>
                          <a:spcPct val="115000"/>
                        </a:lnSpc>
                        <a:spcAft>
                          <a:spcPts val="800"/>
                        </a:spcAft>
                      </a:pPr>
                      <a:r>
                        <a:rPr lang="en-GB" sz="2000">
                          <a:effectLst/>
                        </a:rPr>
                        <a:t>DCM</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GB" sz="2000">
                          <a:effectLst/>
                        </a:rPr>
                        <a:t>Ether</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GB" sz="2000">
                          <a:effectLst/>
                        </a:rPr>
                        <a:t>Hexane/Ether (1:1)</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23170132"/>
                  </a:ext>
                </a:extLst>
              </a:tr>
              <a:tr h="0">
                <a:tc>
                  <a:txBody>
                    <a:bodyPr/>
                    <a:lstStyle/>
                    <a:p>
                      <a:pPr>
                        <a:lnSpc>
                          <a:spcPct val="115000"/>
                        </a:lnSpc>
                        <a:spcAft>
                          <a:spcPts val="800"/>
                        </a:spcAft>
                      </a:pPr>
                      <a:r>
                        <a:rPr lang="en-GB" sz="2000">
                          <a:effectLst/>
                        </a:rPr>
                        <a:t>A</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GB" sz="2000">
                          <a:effectLst/>
                        </a:rPr>
                        <a:t>0.8</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GB" sz="2000">
                          <a:effectLst/>
                        </a:rPr>
                        <a:t>0.5</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GB" sz="2000">
                          <a:effectLst/>
                        </a:rPr>
                        <a:t>0.2</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8677798"/>
                  </a:ext>
                </a:extLst>
              </a:tr>
              <a:tr h="0">
                <a:tc>
                  <a:txBody>
                    <a:bodyPr/>
                    <a:lstStyle/>
                    <a:p>
                      <a:pPr>
                        <a:lnSpc>
                          <a:spcPct val="115000"/>
                        </a:lnSpc>
                        <a:spcAft>
                          <a:spcPts val="800"/>
                        </a:spcAft>
                      </a:pPr>
                      <a:r>
                        <a:rPr lang="en-GB" sz="2000">
                          <a:effectLst/>
                        </a:rPr>
                        <a:t>B</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GB" sz="2000">
                          <a:effectLst/>
                        </a:rPr>
                        <a:t>0.5</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GB" sz="2000">
                          <a:effectLst/>
                        </a:rPr>
                        <a:t>0.3</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GB" sz="2000" dirty="0">
                          <a:effectLst/>
                        </a:rPr>
                        <a:t>0.15</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40167568"/>
                  </a:ext>
                </a:extLst>
              </a:tr>
            </a:tbl>
          </a:graphicData>
        </a:graphic>
      </p:graphicFrame>
    </p:spTree>
    <p:extLst>
      <p:ext uri="{BB962C8B-B14F-4D97-AF65-F5344CB8AC3E}">
        <p14:creationId xmlns:p14="http://schemas.microsoft.com/office/powerpoint/2010/main" val="2949902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35319AA2-C36B-4579-8229-79B87974D564}"/>
              </a:ext>
            </a:extLst>
          </p:cNvPr>
          <p:cNvSpPr>
            <a:spLocks noChangeArrowheads="1"/>
          </p:cNvSpPr>
          <p:nvPr/>
        </p:nvSpPr>
        <p:spPr bwMode="auto">
          <a:xfrm>
            <a:off x="400051" y="162894"/>
            <a:ext cx="11544300" cy="840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pP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Given below are the R</a:t>
            </a:r>
            <a:r>
              <a:rPr kumimoji="0" lang="en-GB" altLang="en-US" sz="2000" b="0" i="0" u="none" strike="noStrike" cap="none" normalizeH="0" baseline="-30000" dirty="0">
                <a:ln>
                  <a:noFill/>
                </a:ln>
                <a:solidFill>
                  <a:schemeClr val="tx1"/>
                </a:solidFill>
                <a:effectLst/>
                <a:ea typeface="Calibri" panose="020F0502020204030204" pitchFamily="34" charset="0"/>
                <a:cs typeface="Arial" panose="020B0604020202020204" pitchFamily="34" charset="0"/>
              </a:rPr>
              <a:t>f</a:t>
            </a: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 values for a mixture of two compounds (</a:t>
            </a:r>
            <a:r>
              <a:rPr kumimoji="0" lang="en-GB" altLang="en-US" sz="2000" b="1" i="0" u="none" strike="noStrike" cap="none" normalizeH="0" baseline="0" dirty="0">
                <a:ln>
                  <a:noFill/>
                </a:ln>
                <a:solidFill>
                  <a:schemeClr val="tx1"/>
                </a:solidFill>
                <a:effectLst/>
                <a:ea typeface="Calibri" panose="020F0502020204030204" pitchFamily="34" charset="0"/>
                <a:cs typeface="Arial" panose="020B0604020202020204" pitchFamily="34" charset="0"/>
              </a:rPr>
              <a:t>A</a:t>
            </a: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 and </a:t>
            </a:r>
            <a:r>
              <a:rPr kumimoji="0" lang="en-GB" altLang="en-US" sz="2000" b="1" i="0" u="none" strike="noStrike" cap="none" normalizeH="0" baseline="0" dirty="0">
                <a:ln>
                  <a:noFill/>
                </a:ln>
                <a:solidFill>
                  <a:schemeClr val="tx1"/>
                </a:solidFill>
                <a:effectLst/>
                <a:ea typeface="Calibri" panose="020F0502020204030204" pitchFamily="34" charset="0"/>
                <a:cs typeface="Arial" panose="020B0604020202020204" pitchFamily="34" charset="0"/>
              </a:rPr>
              <a:t>B</a:t>
            </a: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 analysed by TLC under three different </a:t>
            </a:r>
            <a:r>
              <a:rPr kumimoji="0" lang="en-GB" altLang="en-US" sz="2000" b="0" i="0" u="none" strike="noStrike" cap="none" normalizeH="0" baseline="0" dirty="0">
                <a:ln>
                  <a:noFill/>
                </a:ln>
                <a:effectLst/>
                <a:ea typeface="Calibri" panose="020F0502020204030204" pitchFamily="34" charset="0"/>
                <a:cs typeface="Arial" panose="020B0604020202020204" pitchFamily="34" charset="0"/>
              </a:rPr>
              <a:t>elution conditions. </a:t>
            </a:r>
          </a:p>
          <a:p>
            <a:pPr marL="0" marR="0" lvl="0" indent="0" algn="l" defTabSz="914400" rtl="0" eaLnBrk="0" fontAlgn="base" latinLnBrk="0" hangingPunct="0">
              <a:lnSpc>
                <a:spcPct val="100000"/>
              </a:lnSpc>
              <a:spcBef>
                <a:spcPct val="0"/>
              </a:spcBef>
              <a:spcAft>
                <a:spcPct val="0"/>
              </a:spcAft>
              <a:buClrTx/>
              <a:buSzTx/>
              <a:tabLst/>
            </a:pPr>
            <a:endParaRPr lang="en-GB" altLang="en-US" sz="2000" dirty="0">
              <a:ea typeface="Calibri" panose="020F050202020403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GB" altLang="en-US" sz="2000" b="0" i="0" u="none" strike="noStrike" cap="none" normalizeH="0" baseline="0" dirty="0">
              <a:ln>
                <a:noFill/>
              </a:ln>
              <a:effectLst/>
              <a:ea typeface="Calibri" panose="020F050202020403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GB" altLang="en-US" sz="2000" dirty="0">
              <a:ea typeface="Calibri" panose="020F050202020403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GB" altLang="en-US" sz="2000" b="0" i="0" u="none" strike="noStrike" cap="none" normalizeH="0" baseline="0" dirty="0">
              <a:ln>
                <a:noFill/>
              </a:ln>
              <a:effectLst/>
              <a:ea typeface="Calibri" panose="020F050202020403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GB" altLang="en-US" sz="2000" b="0" i="0" u="none" strike="noStrike" cap="none" normalizeH="0" baseline="0" dirty="0">
              <a:ln>
                <a:noFill/>
              </a:ln>
              <a:effectLst/>
              <a:ea typeface="Calibri" panose="020F050202020403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GB" altLang="en-US" sz="2000" b="0" i="0" u="none" strike="noStrike" cap="none" normalizeH="0" baseline="0" dirty="0">
              <a:ln>
                <a:noFill/>
              </a:ln>
              <a:effectLst/>
              <a:cs typeface="Arial" panose="020B0604020202020204" pitchFamily="34" charset="0"/>
            </a:endParaRPr>
          </a:p>
          <a:p>
            <a:r>
              <a:rPr lang="en-GB" altLang="en-US" sz="2000" dirty="0">
                <a:ea typeface="Calibri" panose="020F0502020204030204" pitchFamily="34" charset="0"/>
                <a:cs typeface="Arial" panose="020B0604020202020204" pitchFamily="34" charset="0"/>
              </a:rPr>
              <a:t>Calculate which of solvent systems would be best suited for separation of compounds </a:t>
            </a:r>
            <a:r>
              <a:rPr lang="en-GB" altLang="en-US" sz="2000" b="1" dirty="0">
                <a:ea typeface="Calibri" panose="020F0502020204030204" pitchFamily="34" charset="0"/>
                <a:cs typeface="Arial" panose="020B0604020202020204" pitchFamily="34" charset="0"/>
              </a:rPr>
              <a:t>A</a:t>
            </a:r>
            <a:r>
              <a:rPr lang="en-GB" altLang="en-US" sz="2000" dirty="0">
                <a:ea typeface="Calibri" panose="020F0502020204030204" pitchFamily="34" charset="0"/>
                <a:cs typeface="Arial" panose="020B0604020202020204" pitchFamily="34" charset="0"/>
              </a:rPr>
              <a:t> &amp; </a:t>
            </a:r>
            <a:r>
              <a:rPr lang="en-GB" altLang="en-US" sz="2000" b="1" dirty="0">
                <a:ea typeface="Calibri" panose="020F0502020204030204" pitchFamily="34" charset="0"/>
                <a:cs typeface="Arial" panose="020B0604020202020204" pitchFamily="34" charset="0"/>
              </a:rPr>
              <a:t>B</a:t>
            </a:r>
            <a:r>
              <a:rPr lang="en-GB" altLang="en-US" sz="2000" dirty="0">
                <a:ea typeface="Calibri" panose="020F0502020204030204" pitchFamily="34" charset="0"/>
                <a:cs typeface="Arial" panose="020B0604020202020204" pitchFamily="34" charset="0"/>
              </a:rPr>
              <a:t> by column chromatography.</a:t>
            </a:r>
          </a:p>
          <a:p>
            <a:endParaRPr lang="en-GB" altLang="en-US" sz="2000" dirty="0">
              <a:cs typeface="Arial" panose="020B0604020202020204" pitchFamily="34" charset="0"/>
            </a:endParaRPr>
          </a:p>
          <a:p>
            <a:endParaRPr lang="en-GB" altLang="en-US" sz="2000" dirty="0">
              <a:cs typeface="Arial" panose="020B0604020202020204" pitchFamily="34" charset="0"/>
            </a:endParaRPr>
          </a:p>
          <a:p>
            <a:pPr lvl="0"/>
            <a:endParaRPr lang="en-GB" altLang="en-US" sz="2000" dirty="0">
              <a:solidFill>
                <a:srgbClr val="FF0000"/>
              </a:solidFill>
              <a:ea typeface="Times New Roman" panose="02020603050405020304" pitchFamily="18" charset="0"/>
              <a:cs typeface="Arial" panose="020B0604020202020204" pitchFamily="34" charset="0"/>
            </a:endParaRPr>
          </a:p>
          <a:p>
            <a:pPr lvl="0"/>
            <a:endParaRPr lang="en-GB" altLang="en-US" sz="2000" dirty="0">
              <a:solidFill>
                <a:srgbClr val="FF0000"/>
              </a:solidFill>
              <a:ea typeface="Times New Roman" panose="02020603050405020304" pitchFamily="18" charset="0"/>
              <a:cs typeface="Arial" panose="020B0604020202020204" pitchFamily="34" charset="0"/>
            </a:endParaRPr>
          </a:p>
          <a:p>
            <a:pPr lvl="0"/>
            <a:endParaRPr lang="en-GB" altLang="en-US" sz="2000" dirty="0">
              <a:solidFill>
                <a:srgbClr val="FF0000"/>
              </a:solidFill>
              <a:ea typeface="Times New Roman" panose="02020603050405020304" pitchFamily="18" charset="0"/>
              <a:cs typeface="Arial" panose="020B0604020202020204" pitchFamily="34" charset="0"/>
            </a:endParaRPr>
          </a:p>
          <a:p>
            <a:pPr lvl="0"/>
            <a:endParaRPr lang="en-GB" altLang="en-US" sz="2000" dirty="0">
              <a:solidFill>
                <a:srgbClr val="FF0000"/>
              </a:solidFill>
              <a:ea typeface="Times New Roman" panose="02020603050405020304" pitchFamily="18" charset="0"/>
              <a:cs typeface="Arial" panose="020B0604020202020204" pitchFamily="34" charset="0"/>
            </a:endParaRPr>
          </a:p>
          <a:p>
            <a:pPr lvl="0"/>
            <a:endParaRPr lang="en-GB" altLang="en-US" sz="2000" dirty="0">
              <a:solidFill>
                <a:srgbClr val="FF0000"/>
              </a:solidFill>
              <a:ea typeface="Times New Roman" panose="02020603050405020304" pitchFamily="18" charset="0"/>
              <a:cs typeface="Arial" panose="020B0604020202020204" pitchFamily="34" charset="0"/>
            </a:endParaRPr>
          </a:p>
          <a:p>
            <a:pPr lvl="0"/>
            <a:r>
              <a:rPr lang="en-GB" altLang="en-US" sz="2000" dirty="0">
                <a:solidFill>
                  <a:schemeClr val="bg1"/>
                </a:solidFill>
                <a:ea typeface="Times New Roman" panose="02020603050405020304" pitchFamily="18" charset="0"/>
                <a:cs typeface="Arial" panose="020B0604020202020204" pitchFamily="34" charset="0"/>
              </a:rPr>
              <a:t>Hexane/ether (1:1) will give greatest difference in CV between </a:t>
            </a:r>
            <a:r>
              <a:rPr lang="en-GB" altLang="en-US" sz="2000" b="1" dirty="0">
                <a:solidFill>
                  <a:schemeClr val="bg1"/>
                </a:solidFill>
                <a:ea typeface="Times New Roman" panose="02020603050405020304" pitchFamily="18" charset="0"/>
                <a:cs typeface="Arial" panose="020B0604020202020204" pitchFamily="34" charset="0"/>
              </a:rPr>
              <a:t>A </a:t>
            </a:r>
            <a:r>
              <a:rPr lang="en-GB" altLang="en-US" sz="2000" dirty="0">
                <a:solidFill>
                  <a:schemeClr val="bg1"/>
                </a:solidFill>
                <a:ea typeface="Times New Roman" panose="02020603050405020304" pitchFamily="18" charset="0"/>
                <a:cs typeface="Arial" panose="020B0604020202020204" pitchFamily="34" charset="0"/>
              </a:rPr>
              <a:t>and </a:t>
            </a:r>
            <a:r>
              <a:rPr lang="en-GB" altLang="en-US" sz="2000" b="1" dirty="0">
                <a:solidFill>
                  <a:schemeClr val="bg1"/>
                </a:solidFill>
                <a:ea typeface="Times New Roman" panose="02020603050405020304" pitchFamily="18" charset="0"/>
                <a:cs typeface="Arial" panose="020B0604020202020204" pitchFamily="34" charset="0"/>
              </a:rPr>
              <a:t>B </a:t>
            </a:r>
            <a:r>
              <a:rPr lang="en-GB" altLang="en-US" sz="2000" dirty="0">
                <a:solidFill>
                  <a:schemeClr val="bg1"/>
                </a:solidFill>
                <a:ea typeface="Times New Roman" panose="02020603050405020304" pitchFamily="18" charset="0"/>
                <a:cs typeface="Arial" panose="020B0604020202020204" pitchFamily="34" charset="0"/>
              </a:rPr>
              <a:t>hence will give the best compound resolution by chromatography. </a:t>
            </a:r>
            <a:endParaRPr lang="en-GB" altLang="en-US" sz="2000" dirty="0">
              <a:solidFill>
                <a:schemeClr val="bg1"/>
              </a:solidFill>
              <a:cs typeface="Arial" panose="020B0604020202020204" pitchFamily="34" charset="0"/>
            </a:endParaRPr>
          </a:p>
          <a:p>
            <a:pPr lvl="0"/>
            <a:r>
              <a:rPr lang="en-GB" altLang="en-US" sz="2000" dirty="0">
                <a:solidFill>
                  <a:schemeClr val="bg1"/>
                </a:solidFill>
                <a:ea typeface="Calibri" panose="020F0502020204030204" pitchFamily="34" charset="0"/>
                <a:cs typeface="Arial" panose="020B0604020202020204" pitchFamily="34" charset="0"/>
              </a:rPr>
              <a:t>Note: it is the difference in CV not Rf that is the main determinant of resolution by column chromatography</a:t>
            </a:r>
            <a:endParaRPr lang="en-GB" altLang="en-US" sz="2000" dirty="0">
              <a:solidFill>
                <a:schemeClr val="bg1"/>
              </a:solidFill>
              <a:cs typeface="Arial" panose="020B0604020202020204" pitchFamily="34" charset="0"/>
            </a:endParaRPr>
          </a:p>
          <a:p>
            <a:endParaRPr lang="en-GB" altLang="en-US" sz="2000" dirty="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GB" altLang="en-US" sz="2000" b="0" i="0" u="none" strike="noStrike" cap="none" normalizeH="0" baseline="0" dirty="0">
              <a:ln>
                <a:noFill/>
              </a:ln>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GB" altLang="en-US" sz="2000" dirty="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GB" altLang="en-US" sz="2000" b="0" i="0" u="none" strike="noStrike" cap="none" normalizeH="0" baseline="0" dirty="0">
              <a:ln>
                <a:noFill/>
              </a:ln>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GB" altLang="en-US" sz="2000" dirty="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GB" altLang="en-US" sz="2000" b="0" i="0" u="none" strike="noStrike" cap="none" normalizeH="0" baseline="0" dirty="0">
              <a:ln>
                <a:noFill/>
              </a:ln>
              <a:effectLst/>
              <a:cs typeface="Arial" panose="020B0604020202020204" pitchFamily="34" charset="0"/>
            </a:endParaRPr>
          </a:p>
        </p:txBody>
      </p:sp>
      <p:graphicFrame>
        <p:nvGraphicFramePr>
          <p:cNvPr id="4" name="Content Placeholder 3">
            <a:extLst>
              <a:ext uri="{FF2B5EF4-FFF2-40B4-BE49-F238E27FC236}">
                <a16:creationId xmlns:a16="http://schemas.microsoft.com/office/drawing/2014/main" id="{66647F19-515B-42B7-A6B7-C68EB6632E29}"/>
              </a:ext>
            </a:extLst>
          </p:cNvPr>
          <p:cNvGraphicFramePr>
            <a:graphicFrameLocks noGrp="1"/>
          </p:cNvGraphicFramePr>
          <p:nvPr>
            <p:ph idx="1"/>
            <p:extLst>
              <p:ext uri="{D42A27DB-BD31-4B8C-83A1-F6EECF244321}">
                <p14:modId xmlns:p14="http://schemas.microsoft.com/office/powerpoint/2010/main" val="1920326514"/>
              </p:ext>
            </p:extLst>
          </p:nvPr>
        </p:nvGraphicFramePr>
        <p:xfrm>
          <a:off x="3327471" y="1070991"/>
          <a:ext cx="4715962" cy="1319784"/>
        </p:xfrm>
        <a:graphic>
          <a:graphicData uri="http://schemas.openxmlformats.org/drawingml/2006/table">
            <a:tbl>
              <a:tblPr firstRow="1" firstCol="1" bandRow="1">
                <a:tableStyleId>{5940675A-B579-460E-94D1-54222C63F5DA}</a:tableStyleId>
              </a:tblPr>
              <a:tblGrid>
                <a:gridCol w="853948">
                  <a:extLst>
                    <a:ext uri="{9D8B030D-6E8A-4147-A177-3AD203B41FA5}">
                      <a16:colId xmlns:a16="http://schemas.microsoft.com/office/drawing/2014/main" val="2661130318"/>
                    </a:ext>
                  </a:extLst>
                </a:gridCol>
                <a:gridCol w="702310">
                  <a:extLst>
                    <a:ext uri="{9D8B030D-6E8A-4147-A177-3AD203B41FA5}">
                      <a16:colId xmlns:a16="http://schemas.microsoft.com/office/drawing/2014/main" val="3130737945"/>
                    </a:ext>
                  </a:extLst>
                </a:gridCol>
                <a:gridCol w="750126">
                  <a:extLst>
                    <a:ext uri="{9D8B030D-6E8A-4147-A177-3AD203B41FA5}">
                      <a16:colId xmlns:a16="http://schemas.microsoft.com/office/drawing/2014/main" val="1943185088"/>
                    </a:ext>
                  </a:extLst>
                </a:gridCol>
                <a:gridCol w="2409578">
                  <a:extLst>
                    <a:ext uri="{9D8B030D-6E8A-4147-A177-3AD203B41FA5}">
                      <a16:colId xmlns:a16="http://schemas.microsoft.com/office/drawing/2014/main" val="1476032031"/>
                    </a:ext>
                  </a:extLst>
                </a:gridCol>
              </a:tblGrid>
              <a:tr h="0">
                <a:tc rowSpan="2">
                  <a:txBody>
                    <a:bodyPr/>
                    <a:lstStyle/>
                    <a:p>
                      <a:pPr>
                        <a:lnSpc>
                          <a:spcPct val="115000"/>
                        </a:lnSpc>
                        <a:spcAft>
                          <a:spcPts val="800"/>
                        </a:spcAft>
                      </a:pPr>
                      <a:r>
                        <a:rPr lang="en-GB" sz="2000">
                          <a:effectLst/>
                        </a:rPr>
                        <a:t>Eluent</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3">
                  <a:txBody>
                    <a:bodyPr/>
                    <a:lstStyle/>
                    <a:p>
                      <a:pPr>
                        <a:lnSpc>
                          <a:spcPct val="115000"/>
                        </a:lnSpc>
                        <a:spcAft>
                          <a:spcPts val="800"/>
                        </a:spcAft>
                      </a:pPr>
                      <a:r>
                        <a:rPr lang="en-GB" sz="2000" dirty="0">
                          <a:effectLst/>
                        </a:rPr>
                        <a:t>R</a:t>
                      </a:r>
                      <a:r>
                        <a:rPr lang="en-GB" sz="2000" baseline="-25000" dirty="0">
                          <a:effectLst/>
                        </a:rPr>
                        <a:t>f</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946640698"/>
                  </a:ext>
                </a:extLst>
              </a:tr>
              <a:tr h="0">
                <a:tc vMerge="1">
                  <a:txBody>
                    <a:bodyPr/>
                    <a:lstStyle/>
                    <a:p>
                      <a:endParaRPr lang="en-GB"/>
                    </a:p>
                  </a:txBody>
                  <a:tcPr/>
                </a:tc>
                <a:tc>
                  <a:txBody>
                    <a:bodyPr/>
                    <a:lstStyle/>
                    <a:p>
                      <a:pPr>
                        <a:lnSpc>
                          <a:spcPct val="115000"/>
                        </a:lnSpc>
                        <a:spcAft>
                          <a:spcPts val="800"/>
                        </a:spcAft>
                      </a:pPr>
                      <a:r>
                        <a:rPr lang="en-GB" sz="2000">
                          <a:effectLst/>
                        </a:rPr>
                        <a:t>DCM</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GB" sz="2000">
                          <a:effectLst/>
                        </a:rPr>
                        <a:t>Ether</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GB" sz="2000">
                          <a:effectLst/>
                        </a:rPr>
                        <a:t>Hexane/Ether (1:1)</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23170132"/>
                  </a:ext>
                </a:extLst>
              </a:tr>
              <a:tr h="0">
                <a:tc>
                  <a:txBody>
                    <a:bodyPr/>
                    <a:lstStyle/>
                    <a:p>
                      <a:pPr>
                        <a:lnSpc>
                          <a:spcPct val="115000"/>
                        </a:lnSpc>
                        <a:spcAft>
                          <a:spcPts val="800"/>
                        </a:spcAft>
                      </a:pPr>
                      <a:r>
                        <a:rPr lang="en-GB" sz="2000">
                          <a:effectLst/>
                        </a:rPr>
                        <a:t>A</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GB" sz="2000">
                          <a:effectLst/>
                        </a:rPr>
                        <a:t>0.8</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GB" sz="2000">
                          <a:effectLst/>
                        </a:rPr>
                        <a:t>0.5</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GB" sz="2000">
                          <a:effectLst/>
                        </a:rPr>
                        <a:t>0.2</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8677798"/>
                  </a:ext>
                </a:extLst>
              </a:tr>
              <a:tr h="0">
                <a:tc>
                  <a:txBody>
                    <a:bodyPr/>
                    <a:lstStyle/>
                    <a:p>
                      <a:pPr>
                        <a:lnSpc>
                          <a:spcPct val="115000"/>
                        </a:lnSpc>
                        <a:spcAft>
                          <a:spcPts val="800"/>
                        </a:spcAft>
                      </a:pPr>
                      <a:r>
                        <a:rPr lang="en-GB" sz="2000">
                          <a:effectLst/>
                        </a:rPr>
                        <a:t>B</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GB" sz="2000">
                          <a:effectLst/>
                        </a:rPr>
                        <a:t>0.5</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GB" sz="2000">
                          <a:effectLst/>
                        </a:rPr>
                        <a:t>0.3</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GB" sz="2000" dirty="0">
                          <a:effectLst/>
                        </a:rPr>
                        <a:t>0.15</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40167568"/>
                  </a:ext>
                </a:extLst>
              </a:tr>
            </a:tbl>
          </a:graphicData>
        </a:graphic>
      </p:graphicFrame>
    </p:spTree>
    <p:extLst>
      <p:ext uri="{BB962C8B-B14F-4D97-AF65-F5344CB8AC3E}">
        <p14:creationId xmlns:p14="http://schemas.microsoft.com/office/powerpoint/2010/main" val="21976412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EE51F688-DCDE-42E8-B26B-B48DC198D424}"/>
              </a:ext>
            </a:extLst>
          </p:cNvPr>
          <p:cNvSpPr>
            <a:spLocks noChangeArrowheads="1"/>
          </p:cNvSpPr>
          <p:nvPr/>
        </p:nvSpPr>
        <p:spPr bwMode="auto">
          <a:xfrm>
            <a:off x="390525" y="262474"/>
            <a:ext cx="56007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kumimoji="0" lang="en-GB" altLang="en-US" sz="20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Compounds </a:t>
            </a:r>
            <a:r>
              <a:rPr kumimoji="0" lang="en-GB" altLang="en-US" sz="2000"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C-G</a:t>
            </a:r>
            <a:r>
              <a:rPr kumimoji="0" lang="en-GB" altLang="en-US" sz="20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are analogues of morphine which you are using in a study as a receptor agonist. </a:t>
            </a:r>
            <a:r>
              <a:rPr lang="en-GB" altLang="en-US" sz="2000" dirty="0">
                <a:latin typeface="Arial" panose="020B0604020202020204" pitchFamily="34" charset="0"/>
                <a:ea typeface="Calibri" panose="020F0502020204030204" pitchFamily="34" charset="0"/>
                <a:cs typeface="Arial" panose="020B0604020202020204" pitchFamily="34" charset="0"/>
              </a:rPr>
              <a:t>Order compounds </a:t>
            </a:r>
            <a:r>
              <a:rPr lang="en-GB" altLang="en-US" sz="2000" b="1" dirty="0">
                <a:latin typeface="Arial" panose="020B0604020202020204" pitchFamily="34" charset="0"/>
                <a:ea typeface="Calibri" panose="020F0502020204030204" pitchFamily="34" charset="0"/>
                <a:cs typeface="Arial" panose="020B0604020202020204" pitchFamily="34" charset="0"/>
              </a:rPr>
              <a:t>C-G</a:t>
            </a:r>
            <a:r>
              <a:rPr lang="en-GB" altLang="en-US" sz="2000" dirty="0">
                <a:latin typeface="Arial" panose="020B0604020202020204" pitchFamily="34" charset="0"/>
                <a:ea typeface="Calibri" panose="020F0502020204030204" pitchFamily="34" charset="0"/>
                <a:cs typeface="Arial" panose="020B0604020202020204" pitchFamily="34" charset="0"/>
              </a:rPr>
              <a:t> in terms of highest to lowest R</a:t>
            </a:r>
            <a:r>
              <a:rPr lang="en-GB" altLang="en-US" sz="2000" baseline="-30000" dirty="0">
                <a:latin typeface="Arial" panose="020B0604020202020204" pitchFamily="34" charset="0"/>
                <a:ea typeface="Calibri" panose="020F0502020204030204" pitchFamily="34" charset="0"/>
                <a:cs typeface="Arial" panose="020B0604020202020204" pitchFamily="34" charset="0"/>
              </a:rPr>
              <a:t>f</a:t>
            </a:r>
            <a:r>
              <a:rPr lang="en-GB" altLang="en-US" sz="2000" dirty="0">
                <a:latin typeface="Arial" panose="020B0604020202020204" pitchFamily="34" charset="0"/>
                <a:ea typeface="Calibri" panose="020F0502020204030204" pitchFamily="34" charset="0"/>
                <a:cs typeface="Arial" panose="020B0604020202020204" pitchFamily="34" charset="0"/>
              </a:rPr>
              <a:t> values that would be expected if they were analysed by normal phase TLC under neutral pH conditions. Explain your answer. </a:t>
            </a:r>
            <a:endParaRPr lang="en-GB" altLang="en-US" sz="2000"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graphicFrame>
        <p:nvGraphicFramePr>
          <p:cNvPr id="5" name="Object 4">
            <a:extLst>
              <a:ext uri="{FF2B5EF4-FFF2-40B4-BE49-F238E27FC236}">
                <a16:creationId xmlns:a16="http://schemas.microsoft.com/office/drawing/2014/main" id="{BBA33CD2-71F2-4F07-92E8-1F389F7890F9}"/>
              </a:ext>
            </a:extLst>
          </p:cNvPr>
          <p:cNvGraphicFramePr>
            <a:graphicFrameLocks noChangeAspect="1"/>
          </p:cNvGraphicFramePr>
          <p:nvPr>
            <p:extLst>
              <p:ext uri="{D42A27DB-BD31-4B8C-83A1-F6EECF244321}">
                <p14:modId xmlns:p14="http://schemas.microsoft.com/office/powerpoint/2010/main" val="1875363229"/>
              </p:ext>
            </p:extLst>
          </p:nvPr>
        </p:nvGraphicFramePr>
        <p:xfrm>
          <a:off x="5756223" y="322035"/>
          <a:ext cx="6064302" cy="3411170"/>
        </p:xfrm>
        <a:graphic>
          <a:graphicData uri="http://schemas.openxmlformats.org/presentationml/2006/ole">
            <mc:AlternateContent xmlns:mc="http://schemas.openxmlformats.org/markup-compatibility/2006">
              <mc:Choice xmlns:v="urn:schemas-microsoft-com:vml" Requires="v">
                <p:oleObj name="CS ChemDraw Drawing" r:id="rId2" imgW="4879497" imgH="2739687" progId="ChemDraw.Document.6.0">
                  <p:embed/>
                </p:oleObj>
              </mc:Choice>
              <mc:Fallback>
                <p:oleObj name="CS ChemDraw Drawing" r:id="rId2" imgW="4879497" imgH="2739687" progId="ChemDraw.Document.6.0">
                  <p:embed/>
                  <p:pic>
                    <p:nvPicPr>
                      <p:cNvPr id="5" name="Object 4">
                        <a:extLst>
                          <a:ext uri="{FF2B5EF4-FFF2-40B4-BE49-F238E27FC236}">
                            <a16:creationId xmlns:a16="http://schemas.microsoft.com/office/drawing/2014/main" id="{BBA33CD2-71F2-4F07-92E8-1F389F7890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6223" y="322035"/>
                        <a:ext cx="6064302" cy="3411170"/>
                      </a:xfrm>
                      <a:prstGeom prst="rect">
                        <a:avLst/>
                      </a:prstGeom>
                      <a:noFill/>
                    </p:spPr>
                  </p:pic>
                </p:oleObj>
              </mc:Fallback>
            </mc:AlternateContent>
          </a:graphicData>
        </a:graphic>
      </p:graphicFrame>
    </p:spTree>
    <p:extLst>
      <p:ext uri="{BB962C8B-B14F-4D97-AF65-F5344CB8AC3E}">
        <p14:creationId xmlns:p14="http://schemas.microsoft.com/office/powerpoint/2010/main" val="11269602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C249827D-4470-458D-848C-E05F681C586E}"/>
              </a:ext>
            </a:extLst>
          </p:cNvPr>
          <p:cNvSpPr>
            <a:spLocks noChangeArrowheads="1"/>
          </p:cNvSpPr>
          <p:nvPr/>
        </p:nvSpPr>
        <p:spPr bwMode="auto">
          <a:xfrm>
            <a:off x="457200" y="305111"/>
            <a:ext cx="112776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Below is a HPLC trace of an unknown mixture of compounds monitored at 254 nm. Which compound 1-4 has the highest concentration in the solution that was injected?</a:t>
            </a:r>
            <a:endParaRPr kumimoji="0" lang="en-GB" altLang="en-US" sz="20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chemeClr val="tx1"/>
              </a:solidFill>
              <a:effectLst/>
              <a:cs typeface="Arial" panose="020B0604020202020204" pitchFamily="34" charset="0"/>
            </a:endParaRPr>
          </a:p>
        </p:txBody>
      </p:sp>
      <p:pic>
        <p:nvPicPr>
          <p:cNvPr id="7169" name="Picture 27">
            <a:extLst>
              <a:ext uri="{FF2B5EF4-FFF2-40B4-BE49-F238E27FC236}">
                <a16:creationId xmlns:a16="http://schemas.microsoft.com/office/drawing/2014/main" id="{33DED327-9EAA-4E6A-8C60-2A5E0F00AB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4625" y="1112515"/>
            <a:ext cx="6572250" cy="33785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72805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47F3F824-BBB2-4800-9E55-51C044556B76}"/>
              </a:ext>
            </a:extLst>
          </p:cNvPr>
          <p:cNvSpPr>
            <a:spLocks noChangeArrowheads="1"/>
          </p:cNvSpPr>
          <p:nvPr/>
        </p:nvSpPr>
        <p:spPr bwMode="auto">
          <a:xfrm>
            <a:off x="304802" y="111890"/>
            <a:ext cx="11363323"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4572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indent="0" algn="l" defTabSz="914400" rtl="0" eaLnBrk="0" fontAlgn="base" latinLnBrk="0" hangingPunct="0">
              <a:lnSpc>
                <a:spcPct val="100000"/>
              </a:lnSpc>
              <a:spcBef>
                <a:spcPct val="0"/>
              </a:spcBef>
              <a:spcAft>
                <a:spcPct val="0"/>
              </a:spcAft>
              <a:buClrTx/>
              <a:buSzTx/>
              <a:buFontTx/>
              <a:buNone/>
              <a:tabLst/>
            </a:pP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A mass of 2.398 g of a newly synthesised compound (Compound 1), was completely dissolved in 150 mL of water. The pH of the resulting solution was 4.6. This aqueous solution was then extracted with 100 mL of n-octanol. To find out the concentration of compound 1 in the organic phase, a sample of 10 mL was diluted to 100 mL with mobile phase and 20 µL injected in a HPLC (normal phase). The peak area (AUC) obtained was 179,142 units. A previous injection of 20 µL of a standard solution of 1 mg/ml of compound 1 gave a peak area of 132,698 units. Calculate the P(octanol/water) of compound 1.</a:t>
            </a:r>
            <a:endParaRPr kumimoji="0" lang="en-GB" altLang="en-US" sz="2000" b="0" i="0" u="none" strike="noStrike" cap="none" normalizeH="0" baseline="0" dirty="0">
              <a:ln>
                <a:noFill/>
              </a:ln>
              <a:solidFill>
                <a:schemeClr val="tx1"/>
              </a:solidFill>
              <a:effectLst/>
              <a:cs typeface="Arial" panose="020B0604020202020204" pitchFamily="34" charset="0"/>
            </a:endParaRPr>
          </a:p>
          <a:p>
            <a:pPr marR="0" lvl="0" indent="0" algn="l" defTabSz="914400" rtl="0" eaLnBrk="0" fontAlgn="base" latinLnBrk="0" hangingPunct="0">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FF0000"/>
              </a:solidFill>
              <a:effectLst/>
              <a:ea typeface="Calibri" panose="020F0502020204030204" pitchFamily="34" charset="0"/>
              <a:cs typeface="Arial" panose="020B0604020202020204"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chemeClr val="tx1"/>
              </a:solidFill>
              <a:effectLst/>
              <a:cs typeface="Arial" panose="020B0604020202020204" pitchFamily="34" charset="0"/>
            </a:endParaRPr>
          </a:p>
        </p:txBody>
      </p:sp>
    </p:spTree>
    <p:extLst>
      <p:ext uri="{BB962C8B-B14F-4D97-AF65-F5344CB8AC3E}">
        <p14:creationId xmlns:p14="http://schemas.microsoft.com/office/powerpoint/2010/main" val="19165496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4BBDAE4-D7CB-42CD-931E-056C9071FC2F}"/>
              </a:ext>
            </a:extLst>
          </p:cNvPr>
          <p:cNvSpPr/>
          <p:nvPr/>
        </p:nvSpPr>
        <p:spPr>
          <a:xfrm>
            <a:off x="428624" y="457885"/>
            <a:ext cx="11058525" cy="707886"/>
          </a:xfrm>
          <a:prstGeom prst="rect">
            <a:avLst/>
          </a:prstGeom>
        </p:spPr>
        <p:txBody>
          <a:bodyPr wrap="square">
            <a:spAutoFit/>
          </a:bodyPr>
          <a:lstStyle/>
          <a:p>
            <a:pPr lvl="0" eaLnBrk="0" fontAlgn="base" hangingPunct="0">
              <a:spcBef>
                <a:spcPct val="0"/>
              </a:spcBef>
              <a:spcAft>
                <a:spcPct val="0"/>
              </a:spcAft>
            </a:pPr>
            <a:r>
              <a:rPr lang="en-GB" altLang="en-US" sz="2000" dirty="0">
                <a:latin typeface="Arial" panose="020B0604020202020204" pitchFamily="34" charset="0"/>
                <a:ea typeface="Calibri" panose="020F0502020204030204" pitchFamily="34" charset="0"/>
                <a:cs typeface="Arial" panose="020B0604020202020204" pitchFamily="34" charset="0"/>
              </a:rPr>
              <a:t>How can you modify the aqueous phase to prevent compound 1 being extracted into the organic phase?</a:t>
            </a:r>
            <a:endParaRPr lang="en-GB"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721630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TotalTime>
  <Words>946</Words>
  <Application>Microsoft Macintosh PowerPoint</Application>
  <PresentationFormat>Widescreen</PresentationFormat>
  <Paragraphs>88</Paragraphs>
  <Slides>13</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19" baseType="lpstr">
      <vt:lpstr>Arial</vt:lpstr>
      <vt:lpstr>Calibri</vt:lpstr>
      <vt:lpstr>Calibri Light</vt:lpstr>
      <vt:lpstr>Times New Roman</vt:lpstr>
      <vt:lpstr>Office Theme</vt:lpstr>
      <vt:lpstr>CS ChemDraw Drawing</vt:lpstr>
      <vt:lpstr>UV-vis and fluorescence spectroscopy</vt:lpstr>
      <vt:lpstr>PowerPoint Presentation</vt:lpstr>
      <vt:lpstr>PowerPoint Presentation</vt:lpstr>
      <vt:lpstr>PowerPoint Presentation</vt:lpstr>
      <vt:lpstr>Separation and chromatography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Wells, Geoffrey</dc:creator>
  <cp:lastModifiedBy>chris www</cp:lastModifiedBy>
  <cp:revision>10</cp:revision>
  <dcterms:created xsi:type="dcterms:W3CDTF">2021-02-01T13:35:43Z</dcterms:created>
  <dcterms:modified xsi:type="dcterms:W3CDTF">2025-02-06T14:16:36Z</dcterms:modified>
</cp:coreProperties>
</file>