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45" r:id="rId3"/>
    <p:sldId id="376" r:id="rId4"/>
    <p:sldId id="378" r:id="rId5"/>
    <p:sldId id="379" r:id="rId6"/>
    <p:sldId id="377" r:id="rId7"/>
    <p:sldId id="380" r:id="rId8"/>
    <p:sldId id="381" r:id="rId9"/>
    <p:sldId id="384" r:id="rId10"/>
    <p:sldId id="385" r:id="rId11"/>
    <p:sldId id="382" r:id="rId12"/>
    <p:sldId id="386" r:id="rId13"/>
    <p:sldId id="392" r:id="rId14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00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00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00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00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00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00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00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00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00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  <a:srgbClr val="FFFF00"/>
    <a:srgbClr val="00FF00"/>
    <a:srgbClr val="FF33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 autoAdjust="0"/>
    <p:restoredTop sz="94658" autoAdjust="0"/>
  </p:normalViewPr>
  <p:slideViewPr>
    <p:cSldViewPr>
      <p:cViewPr varScale="1">
        <p:scale>
          <a:sx n="116" d="100"/>
          <a:sy n="116" d="100"/>
        </p:scale>
        <p:origin x="144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1BC38E5-B218-4D08-852B-B84638C75438}" type="datetimeFigureOut">
              <a:rPr lang="en-GB"/>
              <a:pPr>
                <a:defRPr/>
              </a:pPr>
              <a:t>04/12/2025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DB388C9-BF95-4A12-AC9B-993FCF77B0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6381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B490F8-0569-46B8-9049-97F06F06C5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8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9D075B-04E1-4DA9-90B4-94B5B5E978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04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0C913-76D6-42A1-A7CB-64CB3DC638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D3BF94-0433-43FF-B285-EC80208D8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98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A1BF3-D914-48E6-ABAA-E04D5943A1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7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5DD787-8111-4EB3-9F9B-BC8F3E068D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4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C09B8-731A-4667-92DC-A3A5146B61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1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1D54C-B232-48A7-A059-3DB0F5AD56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70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B5E59-9161-40A3-A4B7-D1848044C1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75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D6432-B658-4044-AC09-2C3FDA285F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0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683F1-D2AF-495D-BDD5-F500074EAE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1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8976FA7F-F6AD-4B0E-B3EB-788785D0DE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D3D9DEEB-19AE-40B4-8DF7-82C7313DA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8680"/>
            <a:ext cx="9144000" cy="6130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PHAY0002: Chemistry of Medicines</a:t>
            </a:r>
          </a:p>
          <a:p>
            <a:pPr algn="ctr" eaLnBrk="1" hangingPunct="1">
              <a:spcBef>
                <a:spcPct val="50000"/>
              </a:spcBef>
            </a:pPr>
            <a:endParaRPr lang="en-GB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GB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Tutorial 3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GB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Groups &amp; </a:t>
            </a:r>
          </a:p>
          <a:p>
            <a:pPr algn="ctr" eaLnBrk="1" hangingPunct="1">
              <a:spcBef>
                <a:spcPts val="0"/>
              </a:spcBef>
            </a:pPr>
            <a:r>
              <a:rPr lang="en-GB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Ionic Equilibria</a:t>
            </a:r>
          </a:p>
          <a:p>
            <a:pPr algn="ctr" eaLnBrk="1" hangingPunct="1">
              <a:spcBef>
                <a:spcPct val="50000"/>
              </a:spcBef>
            </a:pP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ts val="0"/>
              </a:spcBef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 John Malkinson</a:t>
            </a:r>
          </a:p>
          <a:p>
            <a:pPr algn="ctr" eaLnBrk="1" hangingPunct="1">
              <a:spcBef>
                <a:spcPts val="0"/>
              </a:spcBef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 Chris Waudby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Groups and Reactivity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6BB22-F399-435B-A0C9-F8E84E5049E8}"/>
              </a:ext>
            </a:extLst>
          </p:cNvPr>
          <p:cNvSpPr txBox="1"/>
          <p:nvPr/>
        </p:nvSpPr>
        <p:spPr>
          <a:xfrm>
            <a:off x="0" y="54868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Rank the following substances in order of increasing activity, giving reasons for your answer:</a:t>
            </a:r>
            <a:endParaRPr lang="en-GB" sz="24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CA17A8E-D8E4-4217-A5BF-9DFDEE6F50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330549"/>
              </p:ext>
            </p:extLst>
          </p:nvPr>
        </p:nvGraphicFramePr>
        <p:xfrm>
          <a:off x="758825" y="1628800"/>
          <a:ext cx="7626350" cy="194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7625800" imgH="1949091" progId="ChemDraw.Document.6.0">
                  <p:embed/>
                </p:oleObj>
              </mc:Choice>
              <mc:Fallback>
                <p:oleObj name="CS ChemDraw Drawing" r:id="rId2" imgW="7625800" imgH="1949091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1628800"/>
                        <a:ext cx="7626350" cy="194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Groups and Reactivity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6BB22-F399-435B-A0C9-F8E84E5049E8}"/>
              </a:ext>
            </a:extLst>
          </p:cNvPr>
          <p:cNvSpPr txBox="1"/>
          <p:nvPr/>
        </p:nvSpPr>
        <p:spPr>
          <a:xfrm>
            <a:off x="0" y="54868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Draw the mechanism of the acid-base reaction between propanoic acid and triethylamine. Clearly indicate the acid, the base, the conjugate acid and the conjugate base.</a:t>
            </a:r>
            <a:endParaRPr lang="en-GB" sz="24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044B9AD-2556-4D79-BDF0-E3CE1EB6D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27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Groups and Reactivity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6BB22-F399-435B-A0C9-F8E84E5049E8}"/>
              </a:ext>
            </a:extLst>
          </p:cNvPr>
          <p:cNvSpPr txBox="1"/>
          <p:nvPr/>
        </p:nvSpPr>
        <p:spPr>
          <a:xfrm>
            <a:off x="0" y="54868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Write down the acid dissociation equilibrium that corresponds to the </a:t>
            </a:r>
            <a:r>
              <a:rPr lang="en-US" sz="24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sz="2400" b="1" i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400" b="1" baseline="-250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value of 8.9 for diphenhydramine. ESTIMATE what proportion </a:t>
            </a:r>
            <a:r>
              <a:rPr lang="en-US" sz="24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ionised</a:t>
            </a:r>
            <a:r>
              <a:rPr lang="en-U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at pH 7.4.</a:t>
            </a:r>
            <a:endParaRPr lang="en-GB" sz="24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366F3A0-F457-41E9-99DD-B6DF2A9FE5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646514"/>
              </p:ext>
            </p:extLst>
          </p:nvPr>
        </p:nvGraphicFramePr>
        <p:xfrm>
          <a:off x="4573967" y="2023268"/>
          <a:ext cx="3124200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125887" imgH="2814618" progId="ChemDraw.Document.6.0">
                  <p:embed/>
                </p:oleObj>
              </mc:Choice>
              <mc:Fallback>
                <p:oleObj name="CS ChemDraw Drawing" r:id="rId2" imgW="3125887" imgH="2814618" progId="ChemDraw.Document.6.0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967" y="2023268"/>
                        <a:ext cx="3124200" cy="281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5061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Groups and Reactivity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6BB22-F399-435B-A0C9-F8E84E5049E8}"/>
              </a:ext>
            </a:extLst>
          </p:cNvPr>
          <p:cNvSpPr txBox="1"/>
          <p:nvPr/>
        </p:nvSpPr>
        <p:spPr>
          <a:xfrm>
            <a:off x="0" y="54868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Draw the mechanism of the acid-</a:t>
            </a:r>
            <a:r>
              <a:rPr lang="en-US" sz="24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catalysed</a:t>
            </a:r>
            <a:r>
              <a:rPr lang="en-U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hydrolysis of an amide bond. Type of mechanism involved? How does the acid act to </a:t>
            </a:r>
            <a:r>
              <a:rPr lang="en-US" sz="24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catalyse</a:t>
            </a:r>
            <a:r>
              <a:rPr lang="en-U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?  </a:t>
            </a:r>
            <a:endParaRPr lang="en-GB" sz="24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23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Groups and Reactivity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6BB22-F399-435B-A0C9-F8E84E5049E8}"/>
              </a:ext>
            </a:extLst>
          </p:cNvPr>
          <p:cNvSpPr txBox="1"/>
          <p:nvPr/>
        </p:nvSpPr>
        <p:spPr>
          <a:xfrm>
            <a:off x="0" y="54868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Draw the mechanism of the nitration of methoxybenzene, predicting the likely product(s). Faster or slower than the corresponding reaction with benzene?</a:t>
            </a:r>
            <a:endParaRPr lang="en-GB" sz="24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B32C3E4-87EB-4D3B-9453-474533E2A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855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Ionic Equilibria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6BB22-F399-435B-A0C9-F8E84E5049E8}"/>
              </a:ext>
            </a:extLst>
          </p:cNvPr>
          <p:cNvSpPr txBox="1"/>
          <p:nvPr/>
        </p:nvSpPr>
        <p:spPr>
          <a:xfrm>
            <a:off x="0" y="548680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 hospital pharmacist needs to prepare an IV solution of hydrochloric acid. Calculate the pH of a 0.002 M HCl solution. Can this solution be used for intravenous administration? (Acceptable pH range for IV solutions: 5–9)</a:t>
            </a:r>
            <a:endParaRPr lang="en-GB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17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C1AA8-9C47-D9E6-F89C-D81313EC3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37C789DA-0899-4452-81A0-B7A02D9B7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Ionic Equilibria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D40B4-ED11-109B-2AC1-218113C55E25}"/>
              </a:ext>
            </a:extLst>
          </p:cNvPr>
          <p:cNvSpPr txBox="1"/>
          <p:nvPr/>
        </p:nvSpPr>
        <p:spPr>
          <a:xfrm>
            <a:off x="0" y="548680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2. Acetylsalicylic acid (aspirin, </a:t>
            </a:r>
            <a:r>
              <a:rPr lang="en-US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pKa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 3.5) is prepared as a 0.01 M solution.</a:t>
            </a:r>
          </a:p>
          <a:p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(a) Calculate the pH of the solution assuming aspirin can be treated as a weak acid</a:t>
            </a:r>
            <a:endParaRPr lang="en-GB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492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2BC60-383D-2BC0-8E6F-1EBAD86FA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451C5424-C453-6040-6BE1-73515DFCE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Ionic Equilibria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69C12-28D9-CCFA-6C5F-01705C9D2BE3}"/>
              </a:ext>
            </a:extLst>
          </p:cNvPr>
          <p:cNvSpPr txBox="1"/>
          <p:nvPr/>
        </p:nvSpPr>
        <p:spPr>
          <a:xfrm>
            <a:off x="0" y="54868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2. Acetylsalicylic acid (aspirin, </a:t>
            </a:r>
            <a:r>
              <a:rPr lang="en-US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pKa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 3.5) is prepared as a 0.01 M solution.</a:t>
            </a:r>
          </a:p>
          <a:p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(b) Is your calculation of the pH reliable?</a:t>
            </a:r>
            <a:endParaRPr lang="en-GB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789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280A22-2509-6DB9-AA69-E8AA31B4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0CEB9F45-0F23-D352-EC92-379B8DEEA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Ionic Equilibria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420B9-2CB9-646E-2969-6ECC86E865CF}"/>
              </a:ext>
            </a:extLst>
          </p:cNvPr>
          <p:cNvSpPr txBox="1"/>
          <p:nvPr/>
        </p:nvSpPr>
        <p:spPr>
          <a:xfrm>
            <a:off x="0" y="54868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2. Acetylsalicylic acid (aspirin, </a:t>
            </a:r>
            <a:r>
              <a:rPr lang="en-US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pKa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 3.5) is prepared as a 0.01 M solution.</a:t>
            </a:r>
          </a:p>
          <a:p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(c) Calculate the percentage of drug in </a:t>
            </a:r>
            <a:r>
              <a:rPr lang="en-US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ionised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US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unionised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forms.</a:t>
            </a:r>
            <a:endParaRPr lang="en-GB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405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9A878-8E1C-862B-6F2F-F99DCC9A7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6A70B151-7871-0701-756A-98518B0E0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Ionic Equilibria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96409-D903-271E-BCF9-DAE83547E91C}"/>
              </a:ext>
            </a:extLst>
          </p:cNvPr>
          <p:cNvSpPr txBox="1"/>
          <p:nvPr/>
        </p:nvSpPr>
        <p:spPr>
          <a:xfrm>
            <a:off x="0" y="54868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3. Design a phosphate buffer (H₂PO₄⁻/HPO₄²⁻, </a:t>
            </a:r>
            <a:r>
              <a:rPr lang="en-US" sz="18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pKa</a:t>
            </a:r>
            <a:r>
              <a:rPr lang="en-US" sz="1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 7.2) at pH 7.4 with total phosphate concentration 0.1 M. This will be made up in a volume of 250 mL using potassium dihydrogen phosphate dihydrate and dipotassium hydrogen phosphate. (a) Calculate the mass of each component required.</a:t>
            </a:r>
            <a:endParaRPr lang="en-GB" sz="18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741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7BF12-1849-E2F1-011D-538C5AB9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60E1B5E9-E8E9-D0A7-2044-8B48BFDCA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Ionic Equilibria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1BB4C-D62A-77D3-42C5-68383927C37B}"/>
              </a:ext>
            </a:extLst>
          </p:cNvPr>
          <p:cNvSpPr txBox="1"/>
          <p:nvPr/>
        </p:nvSpPr>
        <p:spPr>
          <a:xfrm>
            <a:off x="0" y="54868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3. Design a phosphate buffer (H₂PO₄⁻/HPO₄²⁻, </a:t>
            </a:r>
            <a:r>
              <a:rPr lang="en-US" sz="18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pKa</a:t>
            </a:r>
            <a:r>
              <a:rPr lang="en-US" sz="1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 7.2) at pH 7.4 with total phosphate concentration 0.1 M. This will be made up in a volume of 250 mL using potassium dihydrogen phosphate dihydrate and dipotassium hydrogen phosphate. (b) Calculate the ionic strength of the solution.</a:t>
            </a:r>
            <a:endParaRPr lang="en-GB" sz="18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244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6FB1F-AC4C-7047-FAD8-130D8AB76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870B96AE-F994-326E-0206-5145F085F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Ionic Equilibria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4DDB77-3677-44A7-718F-5B7DA8E64A59}"/>
              </a:ext>
            </a:extLst>
          </p:cNvPr>
          <p:cNvSpPr txBox="1"/>
          <p:nvPr/>
        </p:nvSpPr>
        <p:spPr>
          <a:xfrm>
            <a:off x="0" y="548680"/>
            <a:ext cx="9144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4. A buffer solution is formed by the addition of a 0.2 M solution of sodium hydroxide to 100 mL of 0.1 M acetic acid solution. If the final pH of the buffer solution is 4.2, calculate the volume of sodium hydroxide solution that is added.</a:t>
            </a:r>
          </a:p>
          <a:p>
            <a:r>
              <a:rPr lang="en-GB" sz="1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GB" sz="1800" b="1" baseline="-25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1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(acetic acid) = 1.74 x 10</a:t>
            </a:r>
            <a:r>
              <a:rPr lang="en-GB" sz="1800" b="1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-5</a:t>
            </a:r>
            <a:r>
              <a:rPr lang="en-GB" sz="1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M.</a:t>
            </a:r>
          </a:p>
        </p:txBody>
      </p:sp>
    </p:spTree>
    <p:extLst>
      <p:ext uri="{BB962C8B-B14F-4D97-AF65-F5344CB8AC3E}">
        <p14:creationId xmlns:p14="http://schemas.microsoft.com/office/powerpoint/2010/main" val="26675437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0.0.2212"/>
  <p:tag name="PPTVERSION" val="14"/>
  <p:tag name="TPOS" val="2"/>
</p:tagLst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37686</TotalTime>
  <Words>502</Words>
  <Application>Microsoft Macintosh PowerPoint</Application>
  <PresentationFormat>On-screen Show (4:3)</PresentationFormat>
  <Paragraphs>38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Comic Sans MS</vt:lpstr>
      <vt:lpstr>Times New Roman</vt:lpstr>
      <vt:lpstr>Default Design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Malkinson</dc:creator>
  <cp:lastModifiedBy>chris www</cp:lastModifiedBy>
  <cp:revision>496</cp:revision>
  <dcterms:created xsi:type="dcterms:W3CDTF">2003-10-24T16:21:16Z</dcterms:created>
  <dcterms:modified xsi:type="dcterms:W3CDTF">2025-12-04T08:39:21Z</dcterms:modified>
</cp:coreProperties>
</file>